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5c8d2a87e24e00" /><Relationship Type="http://schemas.openxmlformats.org/officeDocument/2006/relationships/extended-properties" Target="/docProps/app.xml" Id="R3c674fe6cc5f4d16" /><Relationship Type="http://schemas.openxmlformats.org/officeDocument/2006/relationships/officeDocument" Target="/ppt/presentation.xml" Id="Re7a518eea3af4d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c4fe0e819a4c21"/>
  </p:sldMasterIdLst>
  <p:notesMasterIdLst>
    <p:notesMasterId xmlns:r="http://schemas.openxmlformats.org/officeDocument/2006/relationships" r:id="R04517a86c4d345a6"/>
  </p:notesMasterIdLst>
  <p:sldIdLst>
    <p:sldId xmlns:r="http://schemas.openxmlformats.org/officeDocument/2006/relationships" id="256" r:id="R7b799de50598499e"/>
    <p:sldId xmlns:r="http://schemas.openxmlformats.org/officeDocument/2006/relationships" id="257" r:id="R0810cb67e5a949a6"/>
    <p:sldId xmlns:r="http://schemas.openxmlformats.org/officeDocument/2006/relationships" id="258" r:id="R67173ca83e1d4218"/>
    <p:sldId xmlns:r="http://schemas.openxmlformats.org/officeDocument/2006/relationships" id="259" r:id="Rea34f762fcc64e36"/>
    <p:sldId xmlns:r="http://schemas.openxmlformats.org/officeDocument/2006/relationships" id="260" r:id="Rf1f147748d4b4d79"/>
    <p:sldId xmlns:r="http://schemas.openxmlformats.org/officeDocument/2006/relationships" id="261" r:id="Rf52c018a9b304443"/>
    <p:sldId xmlns:r="http://schemas.openxmlformats.org/officeDocument/2006/relationships" id="262" r:id="Rb0310af10e7f4a56"/>
    <p:sldId xmlns:r="http://schemas.openxmlformats.org/officeDocument/2006/relationships" id="263" r:id="Rf32e59b9da984967"/>
    <p:sldId xmlns:r="http://schemas.openxmlformats.org/officeDocument/2006/relationships" id="264" r:id="Re05f1b815b334503"/>
    <p:sldId xmlns:r="http://schemas.openxmlformats.org/officeDocument/2006/relationships" id="265" r:id="R676a335c561f40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1b639cb24345f3" /><Relationship Type="http://schemas.openxmlformats.org/officeDocument/2006/relationships/slideMaster" Target="/ppt/slideMasters/slideMaster1.xml" Id="R42c4fe0e819a4c21" /><Relationship Type="http://schemas.openxmlformats.org/officeDocument/2006/relationships/notesMaster" Target="/ppt/notesMasters/notesMaster1.xml" Id="R04517a86c4d345a6" /><Relationship Type="http://schemas.openxmlformats.org/officeDocument/2006/relationships/presProps" Target="/ppt/presProps.xml" Id="Rb958b8d6a6244e7f" /><Relationship Type="http://schemas.openxmlformats.org/officeDocument/2006/relationships/tableStyles" Target="/ppt/tableStyles.xml" Id="R40385110b153450d" /><Relationship Type="http://schemas.openxmlformats.org/officeDocument/2006/relationships/slide" Target="/ppt/slides/slide1.xml" Id="R7b799de50598499e" /><Relationship Type="http://schemas.openxmlformats.org/officeDocument/2006/relationships/slide" Target="/ppt/slides/slide2.xml" Id="R0810cb67e5a949a6" /><Relationship Type="http://schemas.openxmlformats.org/officeDocument/2006/relationships/slide" Target="/ppt/slides/slide3.xml" Id="R67173ca83e1d4218" /><Relationship Type="http://schemas.openxmlformats.org/officeDocument/2006/relationships/slide" Target="/ppt/slides/slide4.xml" Id="Rea34f762fcc64e36" /><Relationship Type="http://schemas.openxmlformats.org/officeDocument/2006/relationships/slide" Target="/ppt/slides/slide5.xml" Id="Rf1f147748d4b4d79" /><Relationship Type="http://schemas.openxmlformats.org/officeDocument/2006/relationships/slide" Target="/ppt/slides/slide6.xml" Id="Rf52c018a9b304443" /><Relationship Type="http://schemas.openxmlformats.org/officeDocument/2006/relationships/slide" Target="/ppt/slides/slide7.xml" Id="Rb0310af10e7f4a56" /><Relationship Type="http://schemas.openxmlformats.org/officeDocument/2006/relationships/slide" Target="/ppt/slides/slide8.xml" Id="Rf32e59b9da984967" /><Relationship Type="http://schemas.openxmlformats.org/officeDocument/2006/relationships/slide" Target="/ppt/slides/slide9.xml" Id="Re05f1b815b334503" /><Relationship Type="http://schemas.openxmlformats.org/officeDocument/2006/relationships/slide" Target="/ppt/slides/slide10.xml" Id="R676a335c561f40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fbdba94d0446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006ecd72604c16" /><Relationship Type="http://schemas.openxmlformats.org/officeDocument/2006/relationships/notesMaster" Target="/ppt/notesMasters/notesMaster1.xml" Id="R6703970dc6de4d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76978aa6654488" /><Relationship Type="http://schemas.openxmlformats.org/officeDocument/2006/relationships/notesMaster" Target="/ppt/notesMasters/notesMaster1.xml" Id="R1967fe68eabc41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f06416d765495e" /><Relationship Type="http://schemas.openxmlformats.org/officeDocument/2006/relationships/notesMaster" Target="/ppt/notesMasters/notesMaster1.xml" Id="R894443cf678b4b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43a4c9b4e44552" /><Relationship Type="http://schemas.openxmlformats.org/officeDocument/2006/relationships/notesMaster" Target="/ppt/notesMasters/notesMaster1.xml" Id="R00af92afd43442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410e4f384c4ad3" /><Relationship Type="http://schemas.openxmlformats.org/officeDocument/2006/relationships/notesMaster" Target="/ppt/notesMasters/notesMaster1.xml" Id="R6bad848a393549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9a97568ecb48b3" /><Relationship Type="http://schemas.openxmlformats.org/officeDocument/2006/relationships/notesMaster" Target="/ppt/notesMasters/notesMaster1.xml" Id="R57db4876c0be4d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3a736191e0411f" /><Relationship Type="http://schemas.openxmlformats.org/officeDocument/2006/relationships/notesMaster" Target="/ppt/notesMasters/notesMaster1.xml" Id="Rff1dfb4218a64b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21ead7e3dd4b20" /><Relationship Type="http://schemas.openxmlformats.org/officeDocument/2006/relationships/notesMaster" Target="/ppt/notesMasters/notesMaster1.xml" Id="R785bc82c84c644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b82512834b4756" /><Relationship Type="http://schemas.openxmlformats.org/officeDocument/2006/relationships/notesMaster" Target="/ppt/notesMasters/notesMaster1.xml" Id="Ra51b584325784d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32c82216ef4a2a" /><Relationship Type="http://schemas.openxmlformats.org/officeDocument/2006/relationships/notesMaster" Target="/ppt/notesMasters/notesMaster1.xml" Id="Rd50f9551df5f41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 основан на предоставленных Задания-2026 доп.docx и Материал для задания 3.zip. Данные проверены независимым чтением XML, отчёты находятся в docs. Интерфейс реализован, но доступ браузера к локальному серверу в среде разработки заблокирован. Реальные скриншоты не выдаются за выполненную проверку.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требований: materials/Задания-2026 доп.docx, задание № 3, и дополнительные требования пользователя. Frontend-библиотеки сохранены в static.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docs/data_research.json. Количества рассчитаны полным чтением всех XML. Пять показателей годовые, 44198 содержит кварталы I–III за два года. Единицы не масштабируются автоматически.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Исходники: config/settings.py, monitor/views.py, monitor/queries.py, monitor/importer.py. Схема связей: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схема и поля: docs/architecture.md. Уникальный ключ Observation включает показатель, территорию, период и хеш канонического набора измерений. Код территории является строкой. Число хранится десятичным текстом, чтобы SQLite не переводил его в float.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Поддержан GenericData SDMX 1.0 с CodeLists и Description/Indicator. DTD и внешние сущности запрещены defusedxml. Лимиты: 20 МБ загрузка, 15 МБ элемент, 80 МБ распакованные данные, 3 уровня, 100 элементов.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Реализация: monitor/queries.py. Проверены оба режима, ОКФС и совпадение HTML/CSV/JSON/графиков. В 44198 ОКФС 12 означает федеральную собственность. Значение 111,1 взято из исходного XML для России, 2014-Q1, ОКФС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data_43537.sdmx, s_OKATO=643, EI=миллион квадратных метров. Значения 65,74;70,5;84,2;85,3;80,2;79,2;75,7;82;82,2 за 2012–2020 годы. Ряд извлечён из фактически импортированной базы и независимо сверен с XML тестами. Это редактируемый график данных, а не скриншот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Журнал: docs/test_results.txt. Выполнено 20 тестов. Независимая сверка использует ElementTree. Предпросмотр/подтверждение проверены на тестовой базе. Браузер блокирует localhost: EACCES и тайм-аут. Интерактивные сценарии и реальные скриншоты через браузер не выполнены.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Комплект deliverables содержит код, SQLite, материалы, миграции, библиотеки, документацию и презентацию. Поддержан конкретный SDMX 1.0. Проверки выполнены на встроенном CPython 3.12.14. Стандартный установленный Python отсутствует. Запуск Django подтверждён журналом. Браузерный просмотр и скриншоты не выполнены из-за блокировки loopback. Плановых значений нет. GitHub не подключён, PR не создан.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e60d6bb7e44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ed276c8054e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fa08c7aca45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daa7d79524a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d1245df7748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2edde423549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B7C9CE-C726-496B-A102-2D052E1B5F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449C992-8DB1-433E-8683-5BAC34452F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D2C981-6186-41D5-91D1-DF4B2F7F5A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20A54B-796D-4052-8FC8-EB44B632D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3653F0-326C-4EFE-B2D4-0811A06D3B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FB5922-6E58-4E7F-8536-ED1EA24F02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29C422-C119-437A-B5B9-CF3720F41D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EA7B3B-D683-4912-BC85-3A59696CD9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F1E60D-54BC-40D2-A9DB-FE3F493CCC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587C59-898B-4B0E-A6FE-F0B392B0C6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3a37e752df469a" /><Relationship Type="http://schemas.openxmlformats.org/officeDocument/2006/relationships/slideLayout" Target="/ppt/slideLayouts/slideLayout1.xml" Id="R830edecc6b6b41c9" /><Relationship Type="http://schemas.openxmlformats.org/officeDocument/2006/relationships/slideLayout" Target="/ppt/slideLayouts/slideLayout2.xml" Id="Rd2c670ce4277470a" /><Relationship Type="http://schemas.openxmlformats.org/officeDocument/2006/relationships/slideLayout" Target="/ppt/slideLayouts/slideLayout3.xml" Id="R73915e84e43d4c7a" /><Relationship Type="http://schemas.openxmlformats.org/officeDocument/2006/relationships/slideLayout" Target="/ppt/slideLayouts/slideLayout4.xml" Id="R5e3deb4d07774ad9" /><Relationship Type="http://schemas.openxmlformats.org/officeDocument/2006/relationships/slideLayout" Target="/ppt/slideLayouts/slideLayout5.xml" Id="R36e8e6c01be440c6" /><Relationship Type="http://schemas.openxmlformats.org/officeDocument/2006/relationships/slideLayout" Target="/ppt/slideLayouts/slideLayout6.xml" Id="R499ba8c77e1441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0edecc6b6b41c9"/>
    <p:sldLayoutId xmlns:r="http://schemas.openxmlformats.org/officeDocument/2006/relationships" id="2147483650" r:id="Rd2c670ce4277470a"/>
    <p:sldLayoutId xmlns:r="http://schemas.openxmlformats.org/officeDocument/2006/relationships" id="2147483651" r:id="R73915e84e43d4c7a"/>
    <p:sldLayoutId xmlns:r="http://schemas.openxmlformats.org/officeDocument/2006/relationships" id="2147483652" r:id="R5e3deb4d07774ad9"/>
    <p:sldLayoutId xmlns:r="http://schemas.openxmlformats.org/officeDocument/2006/relationships" id="2147483653" r:id="R36e8e6c01be440c6"/>
    <p:sldLayoutId xmlns:r="http://schemas.openxmlformats.org/officeDocument/2006/relationships" id="2147483654" r:id="R499ba8c77e1441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55caf2e314007" /><Relationship Type="http://schemas.openxmlformats.org/officeDocument/2006/relationships/notesSlide" Target="/ppt/notesSlides/notesSlide1.xml" Id="Rb217e32d3ca643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f7263beb5476c" /><Relationship Type="http://schemas.openxmlformats.org/officeDocument/2006/relationships/notesSlide" Target="/ppt/notesSlides/notesSlide2.xml" Id="R32ce0975d13f49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87d0d7649d4ff0" /><Relationship Type="http://schemas.openxmlformats.org/officeDocument/2006/relationships/notesSlide" Target="/ppt/notesSlides/notesSlide3.xml" Id="Rc610d4cc0fe04e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9fe1412ad4700" /><Relationship Type="http://schemas.openxmlformats.org/officeDocument/2006/relationships/notesSlide" Target="/ppt/notesSlides/notesSlide4.xml" Id="Rfd1762bf67d44e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22da75a2040bf" /><Relationship Type="http://schemas.openxmlformats.org/officeDocument/2006/relationships/notesSlide" Target="/ppt/notesSlides/notesSlide5.xml" Id="R071883b06b004b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bd63313a6c4e44" /><Relationship Type="http://schemas.openxmlformats.org/officeDocument/2006/relationships/notesSlide" Target="/ppt/notesSlides/notesSlide6.xml" Id="R7eae3db7d82744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d2a0b42dd04406" /><Relationship Type="http://schemas.openxmlformats.org/officeDocument/2006/relationships/notesSlide" Target="/ppt/notesSlides/notesSlide7.xml" Id="Rb92eb1ccc9fb45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13074e8d5b4ec3" /><Relationship Type="http://schemas.openxmlformats.org/officeDocument/2006/relationships/chart" Target="/ppt/slides/charts/chart1.xml" Id="R154e747d34a84d13" /><Relationship Type="http://schemas.openxmlformats.org/officeDocument/2006/relationships/notesSlide" Target="/ppt/notesSlides/notesSlide8.xml" Id="Rd33641c3c34a4a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ed56d0a3b743ca" /><Relationship Type="http://schemas.openxmlformats.org/officeDocument/2006/relationships/notesSlide" Target="/ppt/notesSlides/notesSlide9.xml" Id="Rc1dfdedb763f41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5b72dc8a94429" /><Relationship Type="http://schemas.openxmlformats.org/officeDocument/2006/relationships/notesSlide" Target="/ppt/notesSlides/notesSlide10.xml" Id="Rc86439e11a9748d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/>
              <a:t>Годовой объём ввода жилья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/>
          </a:pPr>
        </a:p>
      </c:txPr>
    </c:title>
    <c:plotArea>
      <c:lineChart>
        <c:grouping val="standard"/>
        <c:varyColors val="0"/>
        <c:ser>
          <c:idx val="0"/>
          <c:order val="0"/>
          <c:tx>
            <c:v>Годовой объём ввода жилья</c:v>
          </c:tx>
          <c:spPr>
            <a:ln xmlns:a="http://schemas.openxmlformats.org/drawingml/2006/main" w="28575">
              <a:solidFill>
                <a:srgbClr val="245EC7"/>
              </a:solidFill>
              <a:prstDash val="solid"/>
            </a:ln>
          </c:spPr>
          <c:marker>
            <c:symbol val="none"/>
          </c:marker>
          <c:cat>
            <c:numRef>
              <c:f>'Chart Data'!$A$2:$A$10</c:f>
              <c:numCache>
                <c:formatCode>General</c:formatCode>
                <c:ptCount val="9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65.74</c:v>
                </c:pt>
                <c:pt idx="1">
                  <c:v>70.5</c:v>
                </c:pt>
                <c:pt idx="2">
                  <c:v>84.2</c:v>
                </c:pt>
                <c:pt idx="3">
                  <c:v>85.3</c:v>
                </c:pt>
                <c:pt idx="4">
                  <c:v>80.2</c:v>
                </c:pt>
                <c:pt idx="5">
                  <c:v>79.2</c:v>
                </c:pt>
                <c:pt idx="6">
                  <c:v>75.7</c:v>
                </c:pt>
                <c:pt idx="7">
                  <c:v>82</c:v>
                </c:pt>
                <c:pt idx="8">
                  <c:v>82.2</c:v>
                </c:pt>
              </c:numCache>
            </c:numRef>
          </c:val>
          <c:smooth val="0"/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8F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A9F7E-EE4C-49F7-B308-143F8B76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477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2B49"/>
                </a:solidFill>
              </a:defRPr>
            </a:defPPr>
            <a:lvl1pPr>
              <a:defRPr sz="3600" b="1">
                <a:solidFill>
                  <a:srgbClr val="182B49"/>
                </a:solidFill>
              </a:defRPr>
            </a:lvl1pPr>
            <a:lvl2pPr>
              <a:defRPr sz="3600" b="1">
                <a:solidFill>
                  <a:srgbClr val="182B49"/>
                </a:solidFill>
              </a:defRPr>
            </a:lvl2pPr>
            <a:lvl3pPr>
              <a:defRPr sz="3600" b="1">
                <a:solidFill>
                  <a:srgbClr val="182B49"/>
                </a:solidFill>
              </a:defRPr>
            </a:lvl3pPr>
            <a:lvl4pPr>
              <a:defRPr sz="3600" b="1">
                <a:solidFill>
                  <a:srgbClr val="182B49"/>
                </a:solidFill>
              </a:defRPr>
            </a:lvl4pPr>
            <a:lvl5pPr>
              <a:defRPr sz="3600" b="1">
                <a:solidFill>
                  <a:srgbClr val="182B49"/>
                </a:solidFill>
              </a:defRPr>
            </a:lvl5pPr>
            <a:lvl6pPr>
              <a:defRPr sz="3600" b="1">
                <a:solidFill>
                  <a:srgbClr val="182B49"/>
                </a:solidFill>
              </a:defRPr>
            </a:lvl6pPr>
            <a:lvl7pPr>
              <a:defRPr sz="3600" b="1">
                <a:solidFill>
                  <a:srgbClr val="182B49"/>
                </a:solidFill>
              </a:defRPr>
            </a:lvl7pPr>
            <a:lvl8pPr>
              <a:defRPr sz="3600" b="1">
                <a:solidFill>
                  <a:srgbClr val="182B49"/>
                </a:solidFill>
              </a:defRPr>
            </a:lvl8pPr>
            <a:lvl9pPr>
              <a:defRPr sz="3600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B49"/>
                </a:solidFill>
              </a:defRPr>
            </a:pPr>
            <a:r>
              <a:rPr sz="3600" b="1">
                <a:solidFill>
                  <a:srgbClr val="182B49"/>
                </a:solidFill>
              </a:rPr>
              <a:t>Мониторинг реализации</a:t>
            </a:r>
          </a:p>
          <a:p xmlns:a="http://schemas.openxmlformats.org/drawingml/2006/main">
            <a:pPr>
              <a:defRPr sz="3600" b="1">
                <a:solidFill>
                  <a:srgbClr val="182B49"/>
                </a:solidFill>
              </a:defRPr>
            </a:pPr>
            <a:r>
              <a:rPr sz="3600" b="1">
                <a:solidFill>
                  <a:srgbClr val="182B49"/>
                </a:solidFill>
              </a:rPr>
              <a:t>государственных программ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7A867-E52F-4181-BDAD-2BB6C75F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53657E"/>
                </a:solidFill>
              </a:defRPr>
            </a:defPPr>
            <a:lvl1pPr>
              <a:defRPr sz="1875">
                <a:solidFill>
                  <a:srgbClr val="53657E"/>
                </a:solidFill>
              </a:defRPr>
            </a:lvl1pPr>
            <a:lvl2pPr>
              <a:defRPr sz="1875">
                <a:solidFill>
                  <a:srgbClr val="53657E"/>
                </a:solidFill>
              </a:defRPr>
            </a:lvl2pPr>
            <a:lvl3pPr>
              <a:defRPr sz="1875">
                <a:solidFill>
                  <a:srgbClr val="53657E"/>
                </a:solidFill>
              </a:defRPr>
            </a:lvl3pPr>
            <a:lvl4pPr>
              <a:defRPr sz="1875">
                <a:solidFill>
                  <a:srgbClr val="53657E"/>
                </a:solidFill>
              </a:defRPr>
            </a:lvl4pPr>
            <a:lvl5pPr>
              <a:defRPr sz="1875">
                <a:solidFill>
                  <a:srgbClr val="53657E"/>
                </a:solidFill>
              </a:defRPr>
            </a:lvl5pPr>
            <a:lvl6pPr>
              <a:defRPr sz="1875">
                <a:solidFill>
                  <a:srgbClr val="53657E"/>
                </a:solidFill>
              </a:defRPr>
            </a:lvl6pPr>
            <a:lvl7pPr>
              <a:defRPr sz="1875">
                <a:solidFill>
                  <a:srgbClr val="53657E"/>
                </a:solidFill>
              </a:defRPr>
            </a:lvl7pPr>
            <a:lvl8pPr>
              <a:defRPr sz="1875">
                <a:solidFill>
                  <a:srgbClr val="53657E"/>
                </a:solidFill>
              </a:defRPr>
            </a:lvl8pPr>
            <a:lvl9pPr>
              <a:defRPr sz="1875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875">
                <a:solidFill>
                  <a:srgbClr val="53657E"/>
                </a:solidFill>
              </a:defRPr>
            </a:pPr>
            <a:r>
              <a:rPr sz="1875">
                <a:solidFill>
                  <a:srgbClr val="53657E"/>
                </a:solidFill>
              </a:rPr>
              <a:t>Учебный проект по заданию № 3</a:t>
            </a:r>
          </a:p>
          <a:p xmlns:a="http://schemas.openxmlformats.org/drawingml/2006/main">
            <a:pPr>
              <a:defRPr sz="1875">
                <a:solidFill>
                  <a:srgbClr val="53657E"/>
                </a:solidFill>
              </a:defRPr>
            </a:pPr>
            <a:r>
              <a:rPr sz="1875">
                <a:solidFill>
                  <a:srgbClr val="53657E"/>
                </a:solidFill>
              </a:rPr>
              <a:t>Django · SQLite · SDMX/XML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E9661-3ACC-4DF6-A653-85D4161F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5EC7"/>
                </a:solidFill>
              </a:defRPr>
            </a:defPPr>
            <a:lvl1pPr>
              <a:defRPr sz="1875" b="1">
                <a:solidFill>
                  <a:srgbClr val="245EC7"/>
                </a:solidFill>
              </a:defRPr>
            </a:lvl1pPr>
            <a:lvl2pPr>
              <a:defRPr sz="1875" b="1">
                <a:solidFill>
                  <a:srgbClr val="245EC7"/>
                </a:solidFill>
              </a:defRPr>
            </a:lvl2pPr>
            <a:lvl3pPr>
              <a:defRPr sz="1875" b="1">
                <a:solidFill>
                  <a:srgbClr val="245EC7"/>
                </a:solidFill>
              </a:defRPr>
            </a:lvl3pPr>
            <a:lvl4pPr>
              <a:defRPr sz="1875" b="1">
                <a:solidFill>
                  <a:srgbClr val="245EC7"/>
                </a:solidFill>
              </a:defRPr>
            </a:lvl4pPr>
            <a:lvl5pPr>
              <a:defRPr sz="1875" b="1">
                <a:solidFill>
                  <a:srgbClr val="245EC7"/>
                </a:solidFill>
              </a:defRPr>
            </a:lvl5pPr>
            <a:lvl6pPr>
              <a:defRPr sz="1875" b="1">
                <a:solidFill>
                  <a:srgbClr val="245EC7"/>
                </a:solidFill>
              </a:defRPr>
            </a:lvl6pPr>
            <a:lvl7pPr>
              <a:defRPr sz="1875" b="1">
                <a:solidFill>
                  <a:srgbClr val="245EC7"/>
                </a:solidFill>
              </a:defRPr>
            </a:lvl7pPr>
            <a:lvl8pPr>
              <a:defRPr sz="1875" b="1">
                <a:solidFill>
                  <a:srgbClr val="245EC7"/>
                </a:solidFill>
              </a:defRPr>
            </a:lvl8pPr>
            <a:lvl9pPr>
              <a:defRPr sz="1875" b="1">
                <a:solidFill>
                  <a:srgbClr val="245EC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EC7"/>
                </a:solidFill>
              </a:defRPr>
            </a:pPr>
            <a:r>
              <a:rPr sz="1875" b="1">
                <a:solidFill>
                  <a:srgbClr val="245EC7"/>
                </a:solidFill>
              </a:rPr>
              <a:t>2 программы     6 показателей     6 792 наблюдения</a:t>
            </a:r>
          </a:p>
        </p:txBody>
      </p:sp>
    </p:spTree>
    <p:extLst>
      <p:ext uri="{BB962C8B-B14F-4D97-AF65-F5344CB8AC3E}">
        <p14:creationId xmlns:p14="http://schemas.microsoft.com/office/powerpoint/2010/main" val="1209431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5401E-3927-4081-959D-C428CED4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2B49"/>
                </a:solidFill>
              </a:defRPr>
            </a:defPPr>
            <a:lvl1pPr>
              <a:defRPr sz="2850" b="1">
                <a:solidFill>
                  <a:srgbClr val="182B49"/>
                </a:solidFill>
              </a:defRPr>
            </a:lvl1pPr>
            <a:lvl2pPr>
              <a:defRPr sz="2850" b="1">
                <a:solidFill>
                  <a:srgbClr val="182B49"/>
                </a:solidFill>
              </a:defRPr>
            </a:lvl2pPr>
            <a:lvl3pPr>
              <a:defRPr sz="2850" b="1">
                <a:solidFill>
                  <a:srgbClr val="182B49"/>
                </a:solidFill>
              </a:defRPr>
            </a:lvl3pPr>
            <a:lvl4pPr>
              <a:defRPr sz="2850" b="1">
                <a:solidFill>
                  <a:srgbClr val="182B49"/>
                </a:solidFill>
              </a:defRPr>
            </a:lvl4pPr>
            <a:lvl5pPr>
              <a:defRPr sz="2850" b="1">
                <a:solidFill>
                  <a:srgbClr val="182B49"/>
                </a:solidFill>
              </a:defRPr>
            </a:lvl5pPr>
            <a:lvl6pPr>
              <a:defRPr sz="2850" b="1">
                <a:solidFill>
                  <a:srgbClr val="182B49"/>
                </a:solidFill>
              </a:defRPr>
            </a:lvl6pPr>
            <a:lvl7pPr>
              <a:defRPr sz="2850" b="1">
                <a:solidFill>
                  <a:srgbClr val="182B49"/>
                </a:solidFill>
              </a:defRPr>
            </a:lvl7pPr>
            <a:lvl8pPr>
              <a:defRPr sz="2850" b="1">
                <a:solidFill>
                  <a:srgbClr val="182B49"/>
                </a:solidFill>
              </a:defRPr>
            </a:lvl8pPr>
            <a:lvl9pPr>
              <a:defRPr sz="2850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2B49"/>
                </a:solidFill>
              </a:defRPr>
            </a:pPr>
            <a:r>
              <a:rPr sz="2850" b="1">
                <a:solidFill>
                  <a:srgbClr val="182B49"/>
                </a:solidFill>
              </a:rPr>
              <a:t>Задача и требования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10EC0-B963-4EC8-B634-AE45B61A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2B49"/>
                </a:solidFill>
              </a:defRPr>
            </a:defPPr>
            <a:lvl1pPr>
              <a:defRPr sz="2025" b="1">
                <a:solidFill>
                  <a:srgbClr val="182B49"/>
                </a:solidFill>
              </a:defRPr>
            </a:lvl1pPr>
            <a:lvl2pPr>
              <a:defRPr sz="2025" b="1">
                <a:solidFill>
                  <a:srgbClr val="182B49"/>
                </a:solidFill>
              </a:defRPr>
            </a:lvl2pPr>
            <a:lvl3pPr>
              <a:defRPr sz="2025" b="1">
                <a:solidFill>
                  <a:srgbClr val="182B49"/>
                </a:solidFill>
              </a:defRPr>
            </a:lvl3pPr>
            <a:lvl4pPr>
              <a:defRPr sz="2025" b="1">
                <a:solidFill>
                  <a:srgbClr val="182B49"/>
                </a:solidFill>
              </a:defRPr>
            </a:lvl4pPr>
            <a:lvl5pPr>
              <a:defRPr sz="2025" b="1">
                <a:solidFill>
                  <a:srgbClr val="182B49"/>
                </a:solidFill>
              </a:defRPr>
            </a:lvl5pPr>
            <a:lvl6pPr>
              <a:defRPr sz="2025" b="1">
                <a:solidFill>
                  <a:srgbClr val="182B49"/>
                </a:solidFill>
              </a:defRPr>
            </a:lvl6pPr>
            <a:lvl7pPr>
              <a:defRPr sz="2025" b="1">
                <a:solidFill>
                  <a:srgbClr val="182B49"/>
                </a:solidFill>
              </a:defRPr>
            </a:lvl7pPr>
            <a:lvl8pPr>
              <a:defRPr sz="2025" b="1">
                <a:solidFill>
                  <a:srgbClr val="182B49"/>
                </a:solidFill>
              </a:defRPr>
            </a:lvl8pPr>
            <a:lvl9pPr>
              <a:defRPr sz="2025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2B49"/>
                </a:solidFill>
              </a:defRPr>
            </a:pPr>
            <a:r>
              <a:rPr sz="2025" b="1">
                <a:solidFill>
                  <a:srgbClr val="182B49"/>
                </a:solidFill>
              </a:rPr>
              <a:t>Паспорта программ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23499-77A7-46ED-B05A-0D4FAFEF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57E"/>
                </a:solidFill>
              </a:defRPr>
            </a:defPPr>
            <a:lvl1pPr>
              <a:defRPr sz="1725" b="0">
                <a:solidFill>
                  <a:srgbClr val="53657E"/>
                </a:solidFill>
              </a:defRPr>
            </a:lvl1pPr>
            <a:lvl2pPr>
              <a:defRPr sz="1725" b="0">
                <a:solidFill>
                  <a:srgbClr val="53657E"/>
                </a:solidFill>
              </a:defRPr>
            </a:lvl2pPr>
            <a:lvl3pPr>
              <a:defRPr sz="1725" b="0">
                <a:solidFill>
                  <a:srgbClr val="53657E"/>
                </a:solidFill>
              </a:defRPr>
            </a:lvl3pPr>
            <a:lvl4pPr>
              <a:defRPr sz="1725" b="0">
                <a:solidFill>
                  <a:srgbClr val="53657E"/>
                </a:solidFill>
              </a:defRPr>
            </a:lvl4pPr>
            <a:lvl5pPr>
              <a:defRPr sz="1725" b="0">
                <a:solidFill>
                  <a:srgbClr val="53657E"/>
                </a:solidFill>
              </a:defRPr>
            </a:lvl5pPr>
            <a:lvl6pPr>
              <a:defRPr sz="1725" b="0">
                <a:solidFill>
                  <a:srgbClr val="53657E"/>
                </a:solidFill>
              </a:defRPr>
            </a:lvl6pPr>
            <a:lvl7pPr>
              <a:defRPr sz="1725" b="0">
                <a:solidFill>
                  <a:srgbClr val="53657E"/>
                </a:solidFill>
              </a:defRPr>
            </a:lvl7pPr>
            <a:lvl8pPr>
              <a:defRPr sz="1725" b="0">
                <a:solidFill>
                  <a:srgbClr val="53657E"/>
                </a:solidFill>
              </a:defRPr>
            </a:lvl8pPr>
            <a:lvl9pPr>
              <a:defRPr sz="1725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E"/>
                </a:solidFill>
              </a:defRPr>
            </a:pPr>
            <a:r>
              <a:rPr sz="1725" b="0">
                <a:solidFill>
                  <a:srgbClr val="53657E"/>
                </a:solidFill>
              </a:rPr>
              <a:t>Описание, исторические сроки, источники, единицы и фактический охват показателей.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E6C2F-31B2-47EA-8CEF-88BB8127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2B49"/>
                </a:solidFill>
              </a:defRPr>
            </a:defPPr>
            <a:lvl1pPr>
              <a:defRPr sz="2025" b="1">
                <a:solidFill>
                  <a:srgbClr val="182B49"/>
                </a:solidFill>
              </a:defRPr>
            </a:lvl1pPr>
            <a:lvl2pPr>
              <a:defRPr sz="2025" b="1">
                <a:solidFill>
                  <a:srgbClr val="182B49"/>
                </a:solidFill>
              </a:defRPr>
            </a:lvl2pPr>
            <a:lvl3pPr>
              <a:defRPr sz="2025" b="1">
                <a:solidFill>
                  <a:srgbClr val="182B49"/>
                </a:solidFill>
              </a:defRPr>
            </a:lvl3pPr>
            <a:lvl4pPr>
              <a:defRPr sz="2025" b="1">
                <a:solidFill>
                  <a:srgbClr val="182B49"/>
                </a:solidFill>
              </a:defRPr>
            </a:lvl4pPr>
            <a:lvl5pPr>
              <a:defRPr sz="2025" b="1">
                <a:solidFill>
                  <a:srgbClr val="182B49"/>
                </a:solidFill>
              </a:defRPr>
            </a:lvl5pPr>
            <a:lvl6pPr>
              <a:defRPr sz="2025" b="1">
                <a:solidFill>
                  <a:srgbClr val="182B49"/>
                </a:solidFill>
              </a:defRPr>
            </a:lvl6pPr>
            <a:lvl7pPr>
              <a:defRPr sz="2025" b="1">
                <a:solidFill>
                  <a:srgbClr val="182B49"/>
                </a:solidFill>
              </a:defRPr>
            </a:lvl7pPr>
            <a:lvl8pPr>
              <a:defRPr sz="2025" b="1">
                <a:solidFill>
                  <a:srgbClr val="182B49"/>
                </a:solidFill>
              </a:defRPr>
            </a:lvl8pPr>
            <a:lvl9pPr>
              <a:defRPr sz="2025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2B49"/>
                </a:solidFill>
              </a:defRPr>
            </a:pPr>
            <a:r>
              <a:rPr sz="2025" b="1">
                <a:solidFill>
                  <a:srgbClr val="182B49"/>
                </a:solidFill>
              </a:rPr>
              <a:t>Запросы по одной программе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FF224-782A-4E2D-B265-01B2E956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57E"/>
                </a:solidFill>
              </a:defRPr>
            </a:defPPr>
            <a:lvl1pPr>
              <a:defRPr sz="1725" b="0">
                <a:solidFill>
                  <a:srgbClr val="53657E"/>
                </a:solidFill>
              </a:defRPr>
            </a:lvl1pPr>
            <a:lvl2pPr>
              <a:defRPr sz="1725" b="0">
                <a:solidFill>
                  <a:srgbClr val="53657E"/>
                </a:solidFill>
              </a:defRPr>
            </a:lvl2pPr>
            <a:lvl3pPr>
              <a:defRPr sz="1725" b="0">
                <a:solidFill>
                  <a:srgbClr val="53657E"/>
                </a:solidFill>
              </a:defRPr>
            </a:lvl3pPr>
            <a:lvl4pPr>
              <a:defRPr sz="1725" b="0">
                <a:solidFill>
                  <a:srgbClr val="53657E"/>
                </a:solidFill>
              </a:defRPr>
            </a:lvl4pPr>
            <a:lvl5pPr>
              <a:defRPr sz="1725" b="0">
                <a:solidFill>
                  <a:srgbClr val="53657E"/>
                </a:solidFill>
              </a:defRPr>
            </a:lvl5pPr>
            <a:lvl6pPr>
              <a:defRPr sz="1725" b="0">
                <a:solidFill>
                  <a:srgbClr val="53657E"/>
                </a:solidFill>
              </a:defRPr>
            </a:lvl6pPr>
            <a:lvl7pPr>
              <a:defRPr sz="1725" b="0">
                <a:solidFill>
                  <a:srgbClr val="53657E"/>
                </a:solidFill>
              </a:defRPr>
            </a:lvl7pPr>
            <a:lvl8pPr>
              <a:defRPr sz="1725" b="0">
                <a:solidFill>
                  <a:srgbClr val="53657E"/>
                </a:solidFill>
              </a:defRPr>
            </a:lvl8pPr>
            <a:lvl9pPr>
              <a:defRPr sz="1725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E"/>
                </a:solidFill>
              </a:defRPr>
            </a:pPr>
            <a:r>
              <a:rPr sz="1725" b="0">
                <a:solidFill>
                  <a:srgbClr val="53657E"/>
                </a:solidFill>
              </a:rPr>
              <a:t>Один или все показатели. Несколько территорий и периодов. Дополнительные измерения.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9A5C4-50AF-4881-ABDB-A48AA161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2B49"/>
                </a:solidFill>
              </a:defRPr>
            </a:defPPr>
            <a:lvl1pPr>
              <a:defRPr sz="2025" b="1">
                <a:solidFill>
                  <a:srgbClr val="182B49"/>
                </a:solidFill>
              </a:defRPr>
            </a:lvl1pPr>
            <a:lvl2pPr>
              <a:defRPr sz="2025" b="1">
                <a:solidFill>
                  <a:srgbClr val="182B49"/>
                </a:solidFill>
              </a:defRPr>
            </a:lvl2pPr>
            <a:lvl3pPr>
              <a:defRPr sz="2025" b="1">
                <a:solidFill>
                  <a:srgbClr val="182B49"/>
                </a:solidFill>
              </a:defRPr>
            </a:lvl3pPr>
            <a:lvl4pPr>
              <a:defRPr sz="2025" b="1">
                <a:solidFill>
                  <a:srgbClr val="182B49"/>
                </a:solidFill>
              </a:defRPr>
            </a:lvl4pPr>
            <a:lvl5pPr>
              <a:defRPr sz="2025" b="1">
                <a:solidFill>
                  <a:srgbClr val="182B49"/>
                </a:solidFill>
              </a:defRPr>
            </a:lvl5pPr>
            <a:lvl6pPr>
              <a:defRPr sz="2025" b="1">
                <a:solidFill>
                  <a:srgbClr val="182B49"/>
                </a:solidFill>
              </a:defRPr>
            </a:lvl6pPr>
            <a:lvl7pPr>
              <a:defRPr sz="2025" b="1">
                <a:solidFill>
                  <a:srgbClr val="182B49"/>
                </a:solidFill>
              </a:defRPr>
            </a:lvl7pPr>
            <a:lvl8pPr>
              <a:defRPr sz="2025" b="1">
                <a:solidFill>
                  <a:srgbClr val="182B49"/>
                </a:solidFill>
              </a:defRPr>
            </a:lvl8pPr>
            <a:lvl9pPr>
              <a:defRPr sz="2025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2B49"/>
                </a:solidFill>
              </a:defRPr>
            </a:pPr>
            <a:r>
              <a:rPr sz="2025" b="1">
                <a:solidFill>
                  <a:srgbClr val="182B49"/>
                </a:solidFill>
              </a:rPr>
              <a:t>Импорт предоставленных XML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ADED0-E51F-4DDD-8FC3-FACDE60A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57E"/>
                </a:solidFill>
              </a:defRPr>
            </a:defPPr>
            <a:lvl1pPr>
              <a:defRPr sz="1725" b="0">
                <a:solidFill>
                  <a:srgbClr val="53657E"/>
                </a:solidFill>
              </a:defRPr>
            </a:lvl1pPr>
            <a:lvl2pPr>
              <a:defRPr sz="1725" b="0">
                <a:solidFill>
                  <a:srgbClr val="53657E"/>
                </a:solidFill>
              </a:defRPr>
            </a:lvl2pPr>
            <a:lvl3pPr>
              <a:defRPr sz="1725" b="0">
                <a:solidFill>
                  <a:srgbClr val="53657E"/>
                </a:solidFill>
              </a:defRPr>
            </a:lvl3pPr>
            <a:lvl4pPr>
              <a:defRPr sz="1725" b="0">
                <a:solidFill>
                  <a:srgbClr val="53657E"/>
                </a:solidFill>
              </a:defRPr>
            </a:lvl4pPr>
            <a:lvl5pPr>
              <a:defRPr sz="1725" b="0">
                <a:solidFill>
                  <a:srgbClr val="53657E"/>
                </a:solidFill>
              </a:defRPr>
            </a:lvl5pPr>
            <a:lvl6pPr>
              <a:defRPr sz="1725" b="0">
                <a:solidFill>
                  <a:srgbClr val="53657E"/>
                </a:solidFill>
              </a:defRPr>
            </a:lvl6pPr>
            <a:lvl7pPr>
              <a:defRPr sz="1725" b="0">
                <a:solidFill>
                  <a:srgbClr val="53657E"/>
                </a:solidFill>
              </a:defRPr>
            </a:lvl7pPr>
            <a:lvl8pPr>
              <a:defRPr sz="1725" b="0">
                <a:solidFill>
                  <a:srgbClr val="53657E"/>
                </a:solidFill>
              </a:defRPr>
            </a:lvl8pPr>
            <a:lvl9pPr>
              <a:defRPr sz="1725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E"/>
                </a:solidFill>
              </a:defRPr>
            </a:pPr>
            <a:r>
              <a:rPr sz="1725" b="0">
                <a:solidFill>
                  <a:srgbClr val="53657E"/>
                </a:solidFill>
              </a:rPr>
              <a:t>Общий ZIP, вложенные архивы и отдельные файлы. Предпросмотр, подтверждение, история.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9AF78-BD5B-4EA4-A897-B3E5E5C4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2B49"/>
                </a:solidFill>
              </a:defRPr>
            </a:defPPr>
            <a:lvl1pPr>
              <a:defRPr sz="2025" b="1">
                <a:solidFill>
                  <a:srgbClr val="182B49"/>
                </a:solidFill>
              </a:defRPr>
            </a:lvl1pPr>
            <a:lvl2pPr>
              <a:defRPr sz="2025" b="1">
                <a:solidFill>
                  <a:srgbClr val="182B49"/>
                </a:solidFill>
              </a:defRPr>
            </a:lvl2pPr>
            <a:lvl3pPr>
              <a:defRPr sz="2025" b="1">
                <a:solidFill>
                  <a:srgbClr val="182B49"/>
                </a:solidFill>
              </a:defRPr>
            </a:lvl3pPr>
            <a:lvl4pPr>
              <a:defRPr sz="2025" b="1">
                <a:solidFill>
                  <a:srgbClr val="182B49"/>
                </a:solidFill>
              </a:defRPr>
            </a:lvl4pPr>
            <a:lvl5pPr>
              <a:defRPr sz="2025" b="1">
                <a:solidFill>
                  <a:srgbClr val="182B49"/>
                </a:solidFill>
              </a:defRPr>
            </a:lvl5pPr>
            <a:lvl6pPr>
              <a:defRPr sz="2025" b="1">
                <a:solidFill>
                  <a:srgbClr val="182B49"/>
                </a:solidFill>
              </a:defRPr>
            </a:lvl6pPr>
            <a:lvl7pPr>
              <a:defRPr sz="2025" b="1">
                <a:solidFill>
                  <a:srgbClr val="182B49"/>
                </a:solidFill>
              </a:defRPr>
            </a:lvl7pPr>
            <a:lvl8pPr>
              <a:defRPr sz="2025" b="1">
                <a:solidFill>
                  <a:srgbClr val="182B49"/>
                </a:solidFill>
              </a:defRPr>
            </a:lvl8pPr>
            <a:lvl9pPr>
              <a:defRPr sz="2025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2B49"/>
                </a:solidFill>
              </a:defRPr>
            </a:pPr>
            <a:r>
              <a:rPr sz="2025" b="1">
                <a:solidFill>
                  <a:srgbClr val="182B49"/>
                </a:solidFill>
              </a:rPr>
              <a:t>Таблицы и визуализация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EE648-0E55-4126-952E-260563CC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57E"/>
                </a:solidFill>
              </a:defRPr>
            </a:defPPr>
            <a:lvl1pPr>
              <a:defRPr sz="1725" b="0">
                <a:solidFill>
                  <a:srgbClr val="53657E"/>
                </a:solidFill>
              </a:defRPr>
            </a:lvl1pPr>
            <a:lvl2pPr>
              <a:defRPr sz="1725" b="0">
                <a:solidFill>
                  <a:srgbClr val="53657E"/>
                </a:solidFill>
              </a:defRPr>
            </a:lvl2pPr>
            <a:lvl3pPr>
              <a:defRPr sz="1725" b="0">
                <a:solidFill>
                  <a:srgbClr val="53657E"/>
                </a:solidFill>
              </a:defRPr>
            </a:lvl3pPr>
            <a:lvl4pPr>
              <a:defRPr sz="1725" b="0">
                <a:solidFill>
                  <a:srgbClr val="53657E"/>
                </a:solidFill>
              </a:defRPr>
            </a:lvl4pPr>
            <a:lvl5pPr>
              <a:defRPr sz="1725" b="0">
                <a:solidFill>
                  <a:srgbClr val="53657E"/>
                </a:solidFill>
              </a:defRPr>
            </a:lvl5pPr>
            <a:lvl6pPr>
              <a:defRPr sz="1725" b="0">
                <a:solidFill>
                  <a:srgbClr val="53657E"/>
                </a:solidFill>
              </a:defRPr>
            </a:lvl6pPr>
            <a:lvl7pPr>
              <a:defRPr sz="1725" b="0">
                <a:solidFill>
                  <a:srgbClr val="53657E"/>
                </a:solidFill>
              </a:defRPr>
            </a:lvl7pPr>
            <a:lvl8pPr>
              <a:defRPr sz="1725" b="0">
                <a:solidFill>
                  <a:srgbClr val="53657E"/>
                </a:solidFill>
              </a:defRPr>
            </a:lvl8pPr>
            <a:lvl9pPr>
              <a:defRPr sz="1725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E"/>
                </a:solidFill>
              </a:defRPr>
            </a:pPr>
            <a:r>
              <a:rPr sz="1725" b="0">
                <a:solidFill>
                  <a:srgbClr val="53657E"/>
                </a:solidFill>
              </a:rPr>
              <a:t>Сортировка, страницы и полный CSV. Динамика, сравнение регионов и тепловая карта.</a:t>
            </a:r>
          </a:p>
        </p:txBody>
      </p:sp>
    </p:spTree>
    <p:extLst>
      <p:ext uri="{BB962C8B-B14F-4D97-AF65-F5344CB8AC3E}">
        <p14:creationId xmlns:p14="http://schemas.microsoft.com/office/powerpoint/2010/main" val="103098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94E52-6F09-4842-9734-9413F095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2B49"/>
                </a:solidFill>
              </a:defRPr>
            </a:defPPr>
            <a:lvl1pPr>
              <a:defRPr sz="2850" b="1">
                <a:solidFill>
                  <a:srgbClr val="182B49"/>
                </a:solidFill>
              </a:defRPr>
            </a:lvl1pPr>
            <a:lvl2pPr>
              <a:defRPr sz="2850" b="1">
                <a:solidFill>
                  <a:srgbClr val="182B49"/>
                </a:solidFill>
              </a:defRPr>
            </a:lvl2pPr>
            <a:lvl3pPr>
              <a:defRPr sz="2850" b="1">
                <a:solidFill>
                  <a:srgbClr val="182B49"/>
                </a:solidFill>
              </a:defRPr>
            </a:lvl3pPr>
            <a:lvl4pPr>
              <a:defRPr sz="2850" b="1">
                <a:solidFill>
                  <a:srgbClr val="182B49"/>
                </a:solidFill>
              </a:defRPr>
            </a:lvl4pPr>
            <a:lvl5pPr>
              <a:defRPr sz="2850" b="1">
                <a:solidFill>
                  <a:srgbClr val="182B49"/>
                </a:solidFill>
              </a:defRPr>
            </a:lvl5pPr>
            <a:lvl6pPr>
              <a:defRPr sz="2850" b="1">
                <a:solidFill>
                  <a:srgbClr val="182B49"/>
                </a:solidFill>
              </a:defRPr>
            </a:lvl6pPr>
            <a:lvl7pPr>
              <a:defRPr sz="2850" b="1">
                <a:solidFill>
                  <a:srgbClr val="182B49"/>
                </a:solidFill>
              </a:defRPr>
            </a:lvl7pPr>
            <a:lvl8pPr>
              <a:defRPr sz="2850" b="1">
                <a:solidFill>
                  <a:srgbClr val="182B49"/>
                </a:solidFill>
              </a:defRPr>
            </a:lvl8pPr>
            <a:lvl9pPr>
              <a:defRPr sz="2850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2B49"/>
                </a:solidFill>
              </a:defRPr>
            </a:pPr>
            <a:r>
              <a:rPr sz="2850" b="1">
                <a:solidFill>
                  <a:srgbClr val="182B49"/>
                </a:solidFill>
              </a:rPr>
              <a:t>Исходные данные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A946F-774B-4821-92E8-160F3FB9848C}"/>
              </a:ext>
            </a:extLst>
          </p:cNvPr>
          <p:cNvGraphicFramePr/>
          <p:nvPr/>
        </p:nvGraphicFramePr>
        <p:xfrm>
          <a:off xmlns:a="http://schemas.openxmlformats.org/drawingml/2006/main" x="723900" y="1714500"/>
          <a:ext xmlns:a="http://schemas.openxmlformats.org/drawingml/2006/main" cx="1071562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78906"/>
                <a:gridCol w="2678906"/>
                <a:gridCol w="2678906"/>
                <a:gridCol w="2678906"/>
              </a:tblGrid>
              <a:tr h="48985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Периоды</a:t>
                      </a:r>
                    </a:p>
                  </a:txBody>
                  <a:tcPr marL="91440" marR="91440" marT="45720" marB="45720"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Территории</a:t>
                      </a:r>
                    </a:p>
                  </a:txBody>
                  <a:tcPr marL="91440" marR="91440" marT="45720" marB="45720"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Наблюдения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43512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2013–2023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170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1304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43537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2012–2020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102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860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43563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2011–2023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103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1024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43586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2010–2020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103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1045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43587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2010–2023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104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1333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44198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2014–2015, I–III кв.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94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1226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209BE-D35A-4F79-860B-6706A4B0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45EC7"/>
                </a:solidFill>
              </a:defRPr>
            </a:defPPr>
            <a:lvl1pPr>
              <a:defRPr sz="2025" b="1">
                <a:solidFill>
                  <a:srgbClr val="245EC7"/>
                </a:solidFill>
              </a:defRPr>
            </a:lvl1pPr>
            <a:lvl2pPr>
              <a:defRPr sz="2025" b="1">
                <a:solidFill>
                  <a:srgbClr val="245EC7"/>
                </a:solidFill>
              </a:defRPr>
            </a:lvl2pPr>
            <a:lvl3pPr>
              <a:defRPr sz="2025" b="1">
                <a:solidFill>
                  <a:srgbClr val="245EC7"/>
                </a:solidFill>
              </a:defRPr>
            </a:lvl3pPr>
            <a:lvl4pPr>
              <a:defRPr sz="2025" b="1">
                <a:solidFill>
                  <a:srgbClr val="245EC7"/>
                </a:solidFill>
              </a:defRPr>
            </a:lvl4pPr>
            <a:lvl5pPr>
              <a:defRPr sz="2025" b="1">
                <a:solidFill>
                  <a:srgbClr val="245EC7"/>
                </a:solidFill>
              </a:defRPr>
            </a:lvl5pPr>
            <a:lvl6pPr>
              <a:defRPr sz="2025" b="1">
                <a:solidFill>
                  <a:srgbClr val="245EC7"/>
                </a:solidFill>
              </a:defRPr>
            </a:lvl6pPr>
            <a:lvl7pPr>
              <a:defRPr sz="2025" b="1">
                <a:solidFill>
                  <a:srgbClr val="245EC7"/>
                </a:solidFill>
              </a:defRPr>
            </a:lvl7pPr>
            <a:lvl8pPr>
              <a:defRPr sz="2025" b="1">
                <a:solidFill>
                  <a:srgbClr val="245EC7"/>
                </a:solidFill>
              </a:defRPr>
            </a:lvl8pPr>
            <a:lvl9pPr>
              <a:defRPr sz="2025" b="1">
                <a:solidFill>
                  <a:srgbClr val="245EC7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EC7"/>
                </a:solidFill>
              </a:defRPr>
            </a:pPr>
            <a:r>
              <a:rPr sz="2025" b="1">
                <a:solidFill>
                  <a:srgbClr val="245EC7"/>
                </a:solidFill>
              </a:rPr>
              <a:t>6 792 наблюдения в 172 территориях всех уровней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D3F4A-78EF-4C6D-B45D-DE1C2F1A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57E"/>
                </a:solidFill>
              </a:defRPr>
            </a:defPPr>
            <a:lvl1pPr>
              <a:defRPr sz="1575" b="0">
                <a:solidFill>
                  <a:srgbClr val="53657E"/>
                </a:solidFill>
              </a:defRPr>
            </a:lvl1pPr>
            <a:lvl2pPr>
              <a:defRPr sz="1575" b="0">
                <a:solidFill>
                  <a:srgbClr val="53657E"/>
                </a:solidFill>
              </a:defRPr>
            </a:lvl2pPr>
            <a:lvl3pPr>
              <a:defRPr sz="1575" b="0">
                <a:solidFill>
                  <a:srgbClr val="53657E"/>
                </a:solidFill>
              </a:defRPr>
            </a:lvl3pPr>
            <a:lvl4pPr>
              <a:defRPr sz="1575" b="0">
                <a:solidFill>
                  <a:srgbClr val="53657E"/>
                </a:solidFill>
              </a:defRPr>
            </a:lvl4pPr>
            <a:lvl5pPr>
              <a:defRPr sz="1575" b="0">
                <a:solidFill>
                  <a:srgbClr val="53657E"/>
                </a:solidFill>
              </a:defRPr>
            </a:lvl5pPr>
            <a:lvl6pPr>
              <a:defRPr sz="1575" b="0">
                <a:solidFill>
                  <a:srgbClr val="53657E"/>
                </a:solidFill>
              </a:defRPr>
            </a:lvl6pPr>
            <a:lvl7pPr>
              <a:defRPr sz="1575" b="0">
                <a:solidFill>
                  <a:srgbClr val="53657E"/>
                </a:solidFill>
              </a:defRPr>
            </a:lvl7pPr>
            <a:lvl8pPr>
              <a:defRPr sz="1575" b="0">
                <a:solidFill>
                  <a:srgbClr val="53657E"/>
                </a:solidFill>
              </a:defRPr>
            </a:lvl8pPr>
            <a:lvl9pPr>
              <a:defRPr sz="1575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57E"/>
                </a:solidFill>
              </a:defRPr>
            </a:pPr>
            <a:r>
              <a:rPr sz="1575" b="0">
                <a:solidFill>
                  <a:srgbClr val="53657E"/>
                </a:solidFill>
              </a:rPr>
              <a:t>Территории пересекаются. Суммирование уровней не выполняется.</a:t>
            </a:r>
          </a:p>
        </p:txBody>
      </p:sp>
    </p:spTree>
    <p:extLst>
      <p:ext uri="{BB962C8B-B14F-4D97-AF65-F5344CB8AC3E}">
        <p14:creationId xmlns:p14="http://schemas.microsoft.com/office/powerpoint/2010/main" val="37694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41AE5-4D19-4849-A0E0-7A262205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2B49"/>
                </a:solidFill>
              </a:defRPr>
            </a:defPPr>
            <a:lvl1pPr>
              <a:defRPr sz="2850" b="1">
                <a:solidFill>
                  <a:srgbClr val="182B49"/>
                </a:solidFill>
              </a:defRPr>
            </a:lvl1pPr>
            <a:lvl2pPr>
              <a:defRPr sz="2850" b="1">
                <a:solidFill>
                  <a:srgbClr val="182B49"/>
                </a:solidFill>
              </a:defRPr>
            </a:lvl2pPr>
            <a:lvl3pPr>
              <a:defRPr sz="2850" b="1">
                <a:solidFill>
                  <a:srgbClr val="182B49"/>
                </a:solidFill>
              </a:defRPr>
            </a:lvl3pPr>
            <a:lvl4pPr>
              <a:defRPr sz="2850" b="1">
                <a:solidFill>
                  <a:srgbClr val="182B49"/>
                </a:solidFill>
              </a:defRPr>
            </a:lvl4pPr>
            <a:lvl5pPr>
              <a:defRPr sz="2850" b="1">
                <a:solidFill>
                  <a:srgbClr val="182B49"/>
                </a:solidFill>
              </a:defRPr>
            </a:lvl5pPr>
            <a:lvl6pPr>
              <a:defRPr sz="2850" b="1">
                <a:solidFill>
                  <a:srgbClr val="182B49"/>
                </a:solidFill>
              </a:defRPr>
            </a:lvl6pPr>
            <a:lvl7pPr>
              <a:defRPr sz="2850" b="1">
                <a:solidFill>
                  <a:srgbClr val="182B49"/>
                </a:solidFill>
              </a:defRPr>
            </a:lvl7pPr>
            <a:lvl8pPr>
              <a:defRPr sz="2850" b="1">
                <a:solidFill>
                  <a:srgbClr val="182B49"/>
                </a:solidFill>
              </a:defRPr>
            </a:lvl8pPr>
            <a:lvl9pPr>
              <a:defRPr sz="2850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2B49"/>
                </a:solidFill>
              </a:defRPr>
            </a:pPr>
            <a:r>
              <a:rPr sz="2850" b="1">
                <a:solidFill>
                  <a:srgbClr val="182B49"/>
                </a:solidFill>
              </a:rPr>
              <a:t>Архитектура приложения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0D954-AB8E-4715-81FD-7E105D620AF7}"/>
              </a:ext>
            </a:extLst>
          </p:cNvPr>
          <p:cNvGraphicFramePr/>
          <p:nvPr/>
        </p:nvGraphicFramePr>
        <p:xfrm>
          <a:off xmlns:a="http://schemas.openxmlformats.org/drawingml/2006/main" x="723900" y="1762125"/>
          <a:ext xmlns:a="http://schemas.openxmlformats.org/drawingml/2006/main" cx="10715625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3571875"/>
                <a:gridCol w="3571875"/>
              </a:tblGrid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Слой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Компоненты</a:t>
                      </a:r>
                    </a:p>
                  </a:txBody>
                  <a:tcPr marL="91440" marR="91440" marT="45720" marB="45720"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Ответственность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Интерфейс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Django templates, Bootstrap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Паспорта, формы, таблицы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Визуализация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Локальный Chart.js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Линии, столбцы, тепловая таблица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Сервисы Django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Парсер, импорт, запросы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Валидация и единая выборка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Хранение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SQLite, копии XML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Данные, метаданные, история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9FE9E-F267-4336-BE8C-3371E17E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5EC7"/>
                </a:solidFill>
              </a:defRPr>
            </a:defPPr>
            <a:lvl1pPr>
              <a:defRPr sz="2175" b="1">
                <a:solidFill>
                  <a:srgbClr val="245EC7"/>
                </a:solidFill>
              </a:defRPr>
            </a:lvl1pPr>
            <a:lvl2pPr>
              <a:defRPr sz="2175" b="1">
                <a:solidFill>
                  <a:srgbClr val="245EC7"/>
                </a:solidFill>
              </a:defRPr>
            </a:lvl2pPr>
            <a:lvl3pPr>
              <a:defRPr sz="2175" b="1">
                <a:solidFill>
                  <a:srgbClr val="245EC7"/>
                </a:solidFill>
              </a:defRPr>
            </a:lvl3pPr>
            <a:lvl4pPr>
              <a:defRPr sz="2175" b="1">
                <a:solidFill>
                  <a:srgbClr val="245EC7"/>
                </a:solidFill>
              </a:defRPr>
            </a:lvl4pPr>
            <a:lvl5pPr>
              <a:defRPr sz="2175" b="1">
                <a:solidFill>
                  <a:srgbClr val="245EC7"/>
                </a:solidFill>
              </a:defRPr>
            </a:lvl5pPr>
            <a:lvl6pPr>
              <a:defRPr sz="2175" b="1">
                <a:solidFill>
                  <a:srgbClr val="245EC7"/>
                </a:solidFill>
              </a:defRPr>
            </a:lvl6pPr>
            <a:lvl7pPr>
              <a:defRPr sz="2175" b="1">
                <a:solidFill>
                  <a:srgbClr val="245EC7"/>
                </a:solidFill>
              </a:defRPr>
            </a:lvl7pPr>
            <a:lvl8pPr>
              <a:defRPr sz="2175" b="1">
                <a:solidFill>
                  <a:srgbClr val="245EC7"/>
                </a:solidFill>
              </a:defRPr>
            </a:lvl8pPr>
            <a:lvl9pPr>
              <a:defRPr sz="2175" b="1">
                <a:solidFill>
                  <a:srgbClr val="245EC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EC7"/>
                </a:solidFill>
              </a:defRPr>
            </a:pPr>
            <a:r>
              <a:rPr sz="2175" b="1">
                <a:solidFill>
                  <a:srgbClr val="245EC7"/>
                </a:solidFill>
              </a:rPr>
              <a:t>Windows и Python 3.12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E955A-A320-40F6-9714-C74E1440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57E"/>
                </a:solidFill>
              </a:defRPr>
            </a:defPPr>
            <a:lvl1pPr>
              <a:defRPr sz="1725" b="0">
                <a:solidFill>
                  <a:srgbClr val="53657E"/>
                </a:solidFill>
              </a:defRPr>
            </a:lvl1pPr>
            <a:lvl2pPr>
              <a:defRPr sz="1725" b="0">
                <a:solidFill>
                  <a:srgbClr val="53657E"/>
                </a:solidFill>
              </a:defRPr>
            </a:lvl2pPr>
            <a:lvl3pPr>
              <a:defRPr sz="1725" b="0">
                <a:solidFill>
                  <a:srgbClr val="53657E"/>
                </a:solidFill>
              </a:defRPr>
            </a:lvl3pPr>
            <a:lvl4pPr>
              <a:defRPr sz="1725" b="0">
                <a:solidFill>
                  <a:srgbClr val="53657E"/>
                </a:solidFill>
              </a:defRPr>
            </a:lvl4pPr>
            <a:lvl5pPr>
              <a:defRPr sz="1725" b="0">
                <a:solidFill>
                  <a:srgbClr val="53657E"/>
                </a:solidFill>
              </a:defRPr>
            </a:lvl5pPr>
            <a:lvl6pPr>
              <a:defRPr sz="1725" b="0">
                <a:solidFill>
                  <a:srgbClr val="53657E"/>
                </a:solidFill>
              </a:defRPr>
            </a:lvl6pPr>
            <a:lvl7pPr>
              <a:defRPr sz="1725" b="0">
                <a:solidFill>
                  <a:srgbClr val="53657E"/>
                </a:solidFill>
              </a:defRPr>
            </a:lvl7pPr>
            <a:lvl8pPr>
              <a:defRPr sz="1725" b="0">
                <a:solidFill>
                  <a:srgbClr val="53657E"/>
                </a:solidFill>
              </a:defRPr>
            </a:lvl8pPr>
            <a:lvl9pPr>
              <a:defRPr sz="1725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E"/>
                </a:solidFill>
              </a:defRPr>
            </a:pPr>
            <a:r>
              <a:rPr sz="1725" b="0">
                <a:solidFill>
                  <a:srgbClr val="53657E"/>
                </a:solidFill>
              </a:rPr>
              <a:t>Миграции и команды позволяют заново создать и заполнить базу.</a:t>
            </a:r>
          </a:p>
        </p:txBody>
      </p:sp>
    </p:spTree>
    <p:extLst>
      <p:ext uri="{BB962C8B-B14F-4D97-AF65-F5344CB8AC3E}">
        <p14:creationId xmlns:p14="http://schemas.microsoft.com/office/powerpoint/2010/main" val="111073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47176-D255-47E0-B4B1-3D0AF46B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2B49"/>
                </a:solidFill>
              </a:defRPr>
            </a:defPPr>
            <a:lvl1pPr>
              <a:defRPr sz="2850" b="1">
                <a:solidFill>
                  <a:srgbClr val="182B49"/>
                </a:solidFill>
              </a:defRPr>
            </a:lvl1pPr>
            <a:lvl2pPr>
              <a:defRPr sz="2850" b="1">
                <a:solidFill>
                  <a:srgbClr val="182B49"/>
                </a:solidFill>
              </a:defRPr>
            </a:lvl2pPr>
            <a:lvl3pPr>
              <a:defRPr sz="2850" b="1">
                <a:solidFill>
                  <a:srgbClr val="182B49"/>
                </a:solidFill>
              </a:defRPr>
            </a:lvl3pPr>
            <a:lvl4pPr>
              <a:defRPr sz="2850" b="1">
                <a:solidFill>
                  <a:srgbClr val="182B49"/>
                </a:solidFill>
              </a:defRPr>
            </a:lvl4pPr>
            <a:lvl5pPr>
              <a:defRPr sz="2850" b="1">
                <a:solidFill>
                  <a:srgbClr val="182B49"/>
                </a:solidFill>
              </a:defRPr>
            </a:lvl5pPr>
            <a:lvl6pPr>
              <a:defRPr sz="2850" b="1">
                <a:solidFill>
                  <a:srgbClr val="182B49"/>
                </a:solidFill>
              </a:defRPr>
            </a:lvl6pPr>
            <a:lvl7pPr>
              <a:defRPr sz="2850" b="1">
                <a:solidFill>
                  <a:srgbClr val="182B49"/>
                </a:solidFill>
              </a:defRPr>
            </a:lvl7pPr>
            <a:lvl8pPr>
              <a:defRPr sz="2850" b="1">
                <a:solidFill>
                  <a:srgbClr val="182B49"/>
                </a:solidFill>
              </a:defRPr>
            </a:lvl8pPr>
            <a:lvl9pPr>
              <a:defRPr sz="2850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2B49"/>
                </a:solidFill>
              </a:defRPr>
            </a:pPr>
            <a:r>
              <a:rPr sz="2850" b="1">
                <a:solidFill>
                  <a:srgbClr val="182B49"/>
                </a:solidFill>
              </a:rPr>
              <a:t>Модель данных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87463-1E65-4B4C-BFA2-374152E10ED8}"/>
              </a:ext>
            </a:extLst>
          </p:cNvPr>
          <p:cNvGraphicFramePr/>
          <p:nvPr/>
        </p:nvGraphicFramePr>
        <p:xfrm>
          <a:off xmlns:a="http://schemas.openxmlformats.org/drawingml/2006/main" x="723900" y="1685925"/>
          <a:ext xmlns:a="http://schemas.openxmlformats.org/drawingml/2006/main" cx="10715625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3571875"/>
                <a:gridCol w="3571875"/>
              </a:tblGrid>
              <a:tr h="539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Связь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Кардинальность</a:t>
                      </a:r>
                    </a:p>
                  </a:txBody>
                  <a:tcPr marL="91440" marR="91440" marT="45720" marB="45720"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Смысл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Program / Indicator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Один ко многим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Показатели программы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Indicator / Observation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Один ко многим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Значения показателя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Territory, Period / Observation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Один ко многим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Координаты наблюдения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Indicator / Dimension / Value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Иерархия справочников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ОКФС и атрибуты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SourceFile, ImportRun / Observation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Один ко многим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Происхождение и изменение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AF6DA-D6FB-4A3D-A680-53D85B91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45EC7"/>
                </a:solidFill>
              </a:defRPr>
            </a:defPPr>
            <a:lvl1pPr>
              <a:defRPr sz="2025" b="1">
                <a:solidFill>
                  <a:srgbClr val="245EC7"/>
                </a:solidFill>
              </a:defRPr>
            </a:lvl1pPr>
            <a:lvl2pPr>
              <a:defRPr sz="2025" b="1">
                <a:solidFill>
                  <a:srgbClr val="245EC7"/>
                </a:solidFill>
              </a:defRPr>
            </a:lvl2pPr>
            <a:lvl3pPr>
              <a:defRPr sz="2025" b="1">
                <a:solidFill>
                  <a:srgbClr val="245EC7"/>
                </a:solidFill>
              </a:defRPr>
            </a:lvl3pPr>
            <a:lvl4pPr>
              <a:defRPr sz="2025" b="1">
                <a:solidFill>
                  <a:srgbClr val="245EC7"/>
                </a:solidFill>
              </a:defRPr>
            </a:lvl4pPr>
            <a:lvl5pPr>
              <a:defRPr sz="2025" b="1">
                <a:solidFill>
                  <a:srgbClr val="245EC7"/>
                </a:solidFill>
              </a:defRPr>
            </a:lvl5pPr>
            <a:lvl6pPr>
              <a:defRPr sz="2025" b="1">
                <a:solidFill>
                  <a:srgbClr val="245EC7"/>
                </a:solidFill>
              </a:defRPr>
            </a:lvl6pPr>
            <a:lvl7pPr>
              <a:defRPr sz="2025" b="1">
                <a:solidFill>
                  <a:srgbClr val="245EC7"/>
                </a:solidFill>
              </a:defRPr>
            </a:lvl7pPr>
            <a:lvl8pPr>
              <a:defRPr sz="2025" b="1">
                <a:solidFill>
                  <a:srgbClr val="245EC7"/>
                </a:solidFill>
              </a:defRPr>
            </a:lvl8pPr>
            <a:lvl9pPr>
              <a:defRPr sz="2025" b="1">
                <a:solidFill>
                  <a:srgbClr val="245EC7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EC7"/>
                </a:solidFill>
              </a:defRPr>
            </a:pPr>
            <a:r>
              <a:rPr sz="2025" b="1">
                <a:solidFill>
                  <a:srgbClr val="245EC7"/>
                </a:solidFill>
              </a:rPr>
              <a:t>Полный ключ: показатель + территория + период + измерения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429AA-04AF-486F-BC2F-B82442BA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57E"/>
                </a:solidFill>
              </a:defRPr>
            </a:defPPr>
            <a:lvl1pPr>
              <a:defRPr sz="1650" b="0">
                <a:solidFill>
                  <a:srgbClr val="53657E"/>
                </a:solidFill>
              </a:defRPr>
            </a:lvl1pPr>
            <a:lvl2pPr>
              <a:defRPr sz="1650" b="0">
                <a:solidFill>
                  <a:srgbClr val="53657E"/>
                </a:solidFill>
              </a:defRPr>
            </a:lvl2pPr>
            <a:lvl3pPr>
              <a:defRPr sz="1650" b="0">
                <a:solidFill>
                  <a:srgbClr val="53657E"/>
                </a:solidFill>
              </a:defRPr>
            </a:lvl3pPr>
            <a:lvl4pPr>
              <a:defRPr sz="1650" b="0">
                <a:solidFill>
                  <a:srgbClr val="53657E"/>
                </a:solidFill>
              </a:defRPr>
            </a:lvl4pPr>
            <a:lvl5pPr>
              <a:defRPr sz="1650" b="0">
                <a:solidFill>
                  <a:srgbClr val="53657E"/>
                </a:solidFill>
              </a:defRPr>
            </a:lvl5pPr>
            <a:lvl6pPr>
              <a:defRPr sz="1650" b="0">
                <a:solidFill>
                  <a:srgbClr val="53657E"/>
                </a:solidFill>
              </a:defRPr>
            </a:lvl6pPr>
            <a:lvl7pPr>
              <a:defRPr sz="1650" b="0">
                <a:solidFill>
                  <a:srgbClr val="53657E"/>
                </a:solidFill>
              </a:defRPr>
            </a:lvl7pPr>
            <a:lvl8pPr>
              <a:defRPr sz="1650" b="0">
                <a:solidFill>
                  <a:srgbClr val="53657E"/>
                </a:solidFill>
              </a:defRPr>
            </a:lvl8pPr>
            <a:lvl9pPr>
              <a:defRPr sz="1650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57E"/>
                </a:solidFill>
              </a:defRPr>
            </a:pPr>
            <a:r>
              <a:rPr sz="1650" b="0">
                <a:solidFill>
                  <a:srgbClr val="53657E"/>
                </a:solidFill>
              </a:rPr>
              <a:t>Кварталы и формы собственности остаются раздельными.</a:t>
            </a:r>
          </a:p>
        </p:txBody>
      </p:sp>
    </p:spTree>
    <p:extLst>
      <p:ext uri="{BB962C8B-B14F-4D97-AF65-F5344CB8AC3E}">
        <p14:creationId xmlns:p14="http://schemas.microsoft.com/office/powerpoint/2010/main" val="481505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55FEF-5055-4AF8-AD48-FB49937C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2B49"/>
                </a:solidFill>
              </a:defRPr>
            </a:defPPr>
            <a:lvl1pPr>
              <a:defRPr sz="2850" b="1">
                <a:solidFill>
                  <a:srgbClr val="182B49"/>
                </a:solidFill>
              </a:defRPr>
            </a:lvl1pPr>
            <a:lvl2pPr>
              <a:defRPr sz="2850" b="1">
                <a:solidFill>
                  <a:srgbClr val="182B49"/>
                </a:solidFill>
              </a:defRPr>
            </a:lvl2pPr>
            <a:lvl3pPr>
              <a:defRPr sz="2850" b="1">
                <a:solidFill>
                  <a:srgbClr val="182B49"/>
                </a:solidFill>
              </a:defRPr>
            </a:lvl3pPr>
            <a:lvl4pPr>
              <a:defRPr sz="2850" b="1">
                <a:solidFill>
                  <a:srgbClr val="182B49"/>
                </a:solidFill>
              </a:defRPr>
            </a:lvl4pPr>
            <a:lvl5pPr>
              <a:defRPr sz="2850" b="1">
                <a:solidFill>
                  <a:srgbClr val="182B49"/>
                </a:solidFill>
              </a:defRPr>
            </a:lvl5pPr>
            <a:lvl6pPr>
              <a:defRPr sz="2850" b="1">
                <a:solidFill>
                  <a:srgbClr val="182B49"/>
                </a:solidFill>
              </a:defRPr>
            </a:lvl6pPr>
            <a:lvl7pPr>
              <a:defRPr sz="2850" b="1">
                <a:solidFill>
                  <a:srgbClr val="182B49"/>
                </a:solidFill>
              </a:defRPr>
            </a:lvl7pPr>
            <a:lvl8pPr>
              <a:defRPr sz="2850" b="1">
                <a:solidFill>
                  <a:srgbClr val="182B49"/>
                </a:solidFill>
              </a:defRPr>
            </a:lvl8pPr>
            <a:lvl9pPr>
              <a:defRPr sz="2850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2B49"/>
                </a:solidFill>
              </a:defRPr>
            </a:pPr>
            <a:r>
              <a:rPr sz="2850" b="1">
                <a:solidFill>
                  <a:srgbClr val="182B49"/>
                </a:solidFill>
              </a:rPr>
              <a:t>Импорт и сохранение происхождения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89B39-EB15-484B-8766-085E3531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9"/>
                </a:solidFill>
              </a:defRPr>
            </a:defPPr>
            <a:lvl1pPr>
              <a:defRPr sz="1875" b="0">
                <a:solidFill>
                  <a:srgbClr val="182B49"/>
                </a:solidFill>
              </a:defRPr>
            </a:lvl1pPr>
            <a:lvl2pPr>
              <a:defRPr sz="1875" b="0">
                <a:solidFill>
                  <a:srgbClr val="182B49"/>
                </a:solidFill>
              </a:defRPr>
            </a:lvl2pPr>
            <a:lvl3pPr>
              <a:defRPr sz="1875" b="0">
                <a:solidFill>
                  <a:srgbClr val="182B49"/>
                </a:solidFill>
              </a:defRPr>
            </a:lvl3pPr>
            <a:lvl4pPr>
              <a:defRPr sz="1875" b="0">
                <a:solidFill>
                  <a:srgbClr val="182B49"/>
                </a:solidFill>
              </a:defRPr>
            </a:lvl4pPr>
            <a:lvl5pPr>
              <a:defRPr sz="1875" b="0">
                <a:solidFill>
                  <a:srgbClr val="182B49"/>
                </a:solidFill>
              </a:defRPr>
            </a:lvl5pPr>
            <a:lvl6pPr>
              <a:defRPr sz="1875" b="0">
                <a:solidFill>
                  <a:srgbClr val="182B49"/>
                </a:solidFill>
              </a:defRPr>
            </a:lvl6pPr>
            <a:lvl7pPr>
              <a:defRPr sz="1875" b="0">
                <a:solidFill>
                  <a:srgbClr val="182B49"/>
                </a:solidFill>
              </a:defRPr>
            </a:lvl7pPr>
            <a:lvl8pPr>
              <a:defRPr sz="1875" b="0">
                <a:solidFill>
                  <a:srgbClr val="182B49"/>
                </a:solidFill>
              </a:defRPr>
            </a:lvl8pPr>
            <a:lvl9pPr>
              <a:defRPr sz="1875" b="0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49"/>
                </a:solidFill>
              </a:defRPr>
            </a:pPr>
            <a:r>
              <a:rPr sz="1875" b="0">
                <a:solidFill>
                  <a:srgbClr val="182B49"/>
                </a:solidFill>
              </a:rPr>
              <a:t>Предпросмотр определяет показатель и программу.</a:t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</a:defRPr>
            </a:pPr>
            <a:r>
              <a:rPr sz="1875" b="0">
                <a:solidFill>
                  <a:srgbClr val="182B49"/>
                </a:solidFill>
              </a:rPr>
              <a:t>Подтверждение запускает одну транзакцию.</a:t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</a:defRPr>
            </a:pPr>
            <a:r>
              <a:rPr sz="1875" b="0">
                <a:solidFill>
                  <a:srgbClr val="182B49"/>
                </a:solidFill>
              </a:rPr>
              <a:t>Повторный импорт пропускает одинаковые записи.</a:t>
            </a:r>
          </a:p>
          <a:p xmlns:a="http://schemas.openxmlformats.org/drawingml/2006/main">
            <a:pPr>
              <a:defRPr sz="1875" b="0">
                <a:solidFill>
                  <a:srgbClr val="182B49"/>
                </a:solidFill>
              </a:defRPr>
            </a:pPr>
            <a:r>
              <a:rPr sz="1875" b="0">
                <a:solidFill>
                  <a:srgbClr val="182B49"/>
                </a:solidFill>
              </a:rPr>
              <a:t>Изменённые значения и статусы обновляются.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C0992-B5C9-4016-B4BB-D0920303D6C0}"/>
              </a:ext>
            </a:extLst>
          </p:cNvPr>
          <p:cNvGraphicFramePr/>
          <p:nvPr/>
        </p:nvGraphicFramePr>
        <p:xfrm>
          <a:off xmlns:a="http://schemas.openxmlformats.org/drawingml/2006/main" x="723900" y="3619500"/>
          <a:ext xmlns:a="http://schemas.openxmlformats.org/drawingml/2006/main" cx="10715625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57813"/>
                <a:gridCol w="5357813"/>
              </a:tblGrid>
              <a:tr h="51196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Идентификатор источника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Пример data_43512.sdmx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ID из имени файла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43512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Header/ID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260375071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DataSetID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9420013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22DF6-B512-4F23-A086-58F08EBD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5EC7"/>
                </a:solidFill>
              </a:defRPr>
            </a:defPPr>
            <a:lvl1pPr>
              <a:defRPr sz="1725" b="1">
                <a:solidFill>
                  <a:srgbClr val="245EC7"/>
                </a:solidFill>
              </a:defRPr>
            </a:lvl1pPr>
            <a:lvl2pPr>
              <a:defRPr sz="1725" b="1">
                <a:solidFill>
                  <a:srgbClr val="245EC7"/>
                </a:solidFill>
              </a:defRPr>
            </a:lvl2pPr>
            <a:lvl3pPr>
              <a:defRPr sz="1725" b="1">
                <a:solidFill>
                  <a:srgbClr val="245EC7"/>
                </a:solidFill>
              </a:defRPr>
            </a:lvl3pPr>
            <a:lvl4pPr>
              <a:defRPr sz="1725" b="1">
                <a:solidFill>
                  <a:srgbClr val="245EC7"/>
                </a:solidFill>
              </a:defRPr>
            </a:lvl4pPr>
            <a:lvl5pPr>
              <a:defRPr sz="1725" b="1">
                <a:solidFill>
                  <a:srgbClr val="245EC7"/>
                </a:solidFill>
              </a:defRPr>
            </a:lvl5pPr>
            <a:lvl6pPr>
              <a:defRPr sz="1725" b="1">
                <a:solidFill>
                  <a:srgbClr val="245EC7"/>
                </a:solidFill>
              </a:defRPr>
            </a:lvl6pPr>
            <a:lvl7pPr>
              <a:defRPr sz="1725" b="1">
                <a:solidFill>
                  <a:srgbClr val="245EC7"/>
                </a:solidFill>
              </a:defRPr>
            </a:lvl7pPr>
            <a:lvl8pPr>
              <a:defRPr sz="1725" b="1">
                <a:solidFill>
                  <a:srgbClr val="245EC7"/>
                </a:solidFill>
              </a:defRPr>
            </a:lvl8pPr>
            <a:lvl9pPr>
              <a:defRPr sz="1725" b="1">
                <a:solidFill>
                  <a:srgbClr val="245EC7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5EC7"/>
                </a:solidFill>
              </a:defRPr>
            </a:pPr>
            <a:r>
              <a:rPr sz="1725" b="1">
                <a:solidFill>
                  <a:srgbClr val="245EC7"/>
                </a:solidFill>
              </a:rPr>
              <a:t>Исходное содержимое и SHA-256 сохраняются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221432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17757-8328-454C-88D6-AE1ABA0F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2B49"/>
                </a:solidFill>
              </a:defRPr>
            </a:defPPr>
            <a:lvl1pPr>
              <a:defRPr sz="2850" b="1">
                <a:solidFill>
                  <a:srgbClr val="182B49"/>
                </a:solidFill>
              </a:defRPr>
            </a:lvl1pPr>
            <a:lvl2pPr>
              <a:defRPr sz="2850" b="1">
                <a:solidFill>
                  <a:srgbClr val="182B49"/>
                </a:solidFill>
              </a:defRPr>
            </a:lvl2pPr>
            <a:lvl3pPr>
              <a:defRPr sz="2850" b="1">
                <a:solidFill>
                  <a:srgbClr val="182B49"/>
                </a:solidFill>
              </a:defRPr>
            </a:lvl3pPr>
            <a:lvl4pPr>
              <a:defRPr sz="2850" b="1">
                <a:solidFill>
                  <a:srgbClr val="182B49"/>
                </a:solidFill>
              </a:defRPr>
            </a:lvl4pPr>
            <a:lvl5pPr>
              <a:defRPr sz="2850" b="1">
                <a:solidFill>
                  <a:srgbClr val="182B49"/>
                </a:solidFill>
              </a:defRPr>
            </a:lvl5pPr>
            <a:lvl6pPr>
              <a:defRPr sz="2850" b="1">
                <a:solidFill>
                  <a:srgbClr val="182B49"/>
                </a:solidFill>
              </a:defRPr>
            </a:lvl6pPr>
            <a:lvl7pPr>
              <a:defRPr sz="2850" b="1">
                <a:solidFill>
                  <a:srgbClr val="182B49"/>
                </a:solidFill>
              </a:defRPr>
            </a:lvl7pPr>
            <a:lvl8pPr>
              <a:defRPr sz="2850" b="1">
                <a:solidFill>
                  <a:srgbClr val="182B49"/>
                </a:solidFill>
              </a:defRPr>
            </a:lvl8pPr>
            <a:lvl9pPr>
              <a:defRPr sz="2850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2B49"/>
                </a:solidFill>
              </a:defRPr>
            </a:pPr>
            <a:r>
              <a:rPr sz="2850" b="1">
                <a:solidFill>
                  <a:srgbClr val="182B49"/>
                </a:solidFill>
              </a:rPr>
              <a:t>Режимы выборки и дополнительные измерения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12EA0-BFAB-4A89-8747-4940D2F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B49"/>
                </a:solidFill>
              </a:defRPr>
            </a:defPPr>
            <a:lvl1pPr>
              <a:defRPr sz="2175" b="1">
                <a:solidFill>
                  <a:srgbClr val="182B49"/>
                </a:solidFill>
              </a:defRPr>
            </a:lvl1pPr>
            <a:lvl2pPr>
              <a:defRPr sz="2175" b="1">
                <a:solidFill>
                  <a:srgbClr val="182B49"/>
                </a:solidFill>
              </a:defRPr>
            </a:lvl2pPr>
            <a:lvl3pPr>
              <a:defRPr sz="2175" b="1">
                <a:solidFill>
                  <a:srgbClr val="182B49"/>
                </a:solidFill>
              </a:defRPr>
            </a:lvl3pPr>
            <a:lvl4pPr>
              <a:defRPr sz="2175" b="1">
                <a:solidFill>
                  <a:srgbClr val="182B49"/>
                </a:solidFill>
              </a:defRPr>
            </a:lvl4pPr>
            <a:lvl5pPr>
              <a:defRPr sz="2175" b="1">
                <a:solidFill>
                  <a:srgbClr val="182B49"/>
                </a:solidFill>
              </a:defRPr>
            </a:lvl5pPr>
            <a:lvl6pPr>
              <a:defRPr sz="2175" b="1">
                <a:solidFill>
                  <a:srgbClr val="182B49"/>
                </a:solidFill>
              </a:defRPr>
            </a:lvl6pPr>
            <a:lvl7pPr>
              <a:defRPr sz="2175" b="1">
                <a:solidFill>
                  <a:srgbClr val="182B49"/>
                </a:solidFill>
              </a:defRPr>
            </a:lvl7pPr>
            <a:lvl8pPr>
              <a:defRPr sz="2175" b="1">
                <a:solidFill>
                  <a:srgbClr val="182B49"/>
                </a:solidFill>
              </a:defRPr>
            </a:lvl8pPr>
            <a:lvl9pPr>
              <a:defRPr sz="2175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2B49"/>
                </a:solidFill>
              </a:defRPr>
            </a:pPr>
            <a:r>
              <a:rPr sz="2175" b="1">
                <a:solidFill>
                  <a:srgbClr val="182B49"/>
                </a:solidFill>
              </a:rPr>
              <a:t>Один показатель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75E06-56F9-4311-8219-0E598F68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57E"/>
                </a:solidFill>
              </a:defRPr>
            </a:defPPr>
            <a:lvl1pPr>
              <a:defRPr sz="1800" b="0">
                <a:solidFill>
                  <a:srgbClr val="53657E"/>
                </a:solidFill>
              </a:defRPr>
            </a:lvl1pPr>
            <a:lvl2pPr>
              <a:defRPr sz="1800" b="0">
                <a:solidFill>
                  <a:srgbClr val="53657E"/>
                </a:solidFill>
              </a:defRPr>
            </a:lvl2pPr>
            <a:lvl3pPr>
              <a:defRPr sz="1800" b="0">
                <a:solidFill>
                  <a:srgbClr val="53657E"/>
                </a:solidFill>
              </a:defRPr>
            </a:lvl3pPr>
            <a:lvl4pPr>
              <a:defRPr sz="1800" b="0">
                <a:solidFill>
                  <a:srgbClr val="53657E"/>
                </a:solidFill>
              </a:defRPr>
            </a:lvl4pPr>
            <a:lvl5pPr>
              <a:defRPr sz="1800" b="0">
                <a:solidFill>
                  <a:srgbClr val="53657E"/>
                </a:solidFill>
              </a:defRPr>
            </a:lvl5pPr>
            <a:lvl6pPr>
              <a:defRPr sz="1800" b="0">
                <a:solidFill>
                  <a:srgbClr val="53657E"/>
                </a:solidFill>
              </a:defRPr>
            </a:lvl6pPr>
            <a:lvl7pPr>
              <a:defRPr sz="1800" b="0">
                <a:solidFill>
                  <a:srgbClr val="53657E"/>
                </a:solidFill>
              </a:defRPr>
            </a:lvl7pPr>
            <a:lvl8pPr>
              <a:defRPr sz="1800" b="0">
                <a:solidFill>
                  <a:srgbClr val="53657E"/>
                </a:solidFill>
              </a:defRPr>
            </a:lvl8pPr>
            <a:lvl9pPr>
              <a:defRPr sz="1800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57E"/>
                </a:solidFill>
              </a:defRPr>
            </a:pPr>
            <a:r>
              <a:rPr sz="1800" b="0">
                <a:solidFill>
                  <a:srgbClr val="53657E"/>
                </a:solidFill>
              </a:rPr>
              <a:t>Регионы и периоды выбираются независимо.</a:t>
            </a:r>
          </a:p>
          <a:p xmlns:a="http://schemas.openxmlformats.org/drawingml/2006/main">
            <a:pPr>
              <a:defRPr sz="1800" b="0">
                <a:solidFill>
                  <a:srgbClr val="53657E"/>
                </a:solidFill>
              </a:defRPr>
            </a:pPr>
            <a:r>
              <a:rPr sz="1800" b="0">
                <a:solidFill>
                  <a:srgbClr val="53657E"/>
                </a:solidFill>
              </a:rPr>
              <a:t>Пустой фильтр означает все значения.</a:t>
            </a:r>
          </a:p>
          <a:p xmlns:a="http://schemas.openxmlformats.org/drawingml/2006/main">
            <a:pPr>
              <a:defRPr sz="1800" b="0">
                <a:solidFill>
                  <a:srgbClr val="53657E"/>
                </a:solidFill>
              </a:defRPr>
            </a:pPr>
            <a:r>
              <a:rPr sz="1800" b="0">
                <a:solidFill>
                  <a:srgbClr val="53657E"/>
                </a:solidFill>
              </a:rPr>
              <a:t>Выбор сохраняется в URL и сессии.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90827-BAB5-4384-87FF-46C1EC0B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859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B49"/>
                </a:solidFill>
              </a:defRPr>
            </a:defPPr>
            <a:lvl1pPr>
              <a:defRPr sz="2175" b="1">
                <a:solidFill>
                  <a:srgbClr val="182B49"/>
                </a:solidFill>
              </a:defRPr>
            </a:lvl1pPr>
            <a:lvl2pPr>
              <a:defRPr sz="2175" b="1">
                <a:solidFill>
                  <a:srgbClr val="182B49"/>
                </a:solidFill>
              </a:defRPr>
            </a:lvl2pPr>
            <a:lvl3pPr>
              <a:defRPr sz="2175" b="1">
                <a:solidFill>
                  <a:srgbClr val="182B49"/>
                </a:solidFill>
              </a:defRPr>
            </a:lvl3pPr>
            <a:lvl4pPr>
              <a:defRPr sz="2175" b="1">
                <a:solidFill>
                  <a:srgbClr val="182B49"/>
                </a:solidFill>
              </a:defRPr>
            </a:lvl4pPr>
            <a:lvl5pPr>
              <a:defRPr sz="2175" b="1">
                <a:solidFill>
                  <a:srgbClr val="182B49"/>
                </a:solidFill>
              </a:defRPr>
            </a:lvl5pPr>
            <a:lvl6pPr>
              <a:defRPr sz="2175" b="1">
                <a:solidFill>
                  <a:srgbClr val="182B49"/>
                </a:solidFill>
              </a:defRPr>
            </a:lvl6pPr>
            <a:lvl7pPr>
              <a:defRPr sz="2175" b="1">
                <a:solidFill>
                  <a:srgbClr val="182B49"/>
                </a:solidFill>
              </a:defRPr>
            </a:lvl7pPr>
            <a:lvl8pPr>
              <a:defRPr sz="2175" b="1">
                <a:solidFill>
                  <a:srgbClr val="182B49"/>
                </a:solidFill>
              </a:defRPr>
            </a:lvl8pPr>
            <a:lvl9pPr>
              <a:defRPr sz="2175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2B49"/>
                </a:solidFill>
              </a:defRPr>
            </a:pPr>
            <a:r>
              <a:rPr sz="2175" b="1">
                <a:solidFill>
                  <a:srgbClr val="182B49"/>
                </a:solidFill>
              </a:rPr>
              <a:t>Все показатели программы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8EB3C-CBB6-4242-8CB8-AAE44C3C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57E"/>
                </a:solidFill>
              </a:defRPr>
            </a:defPPr>
            <a:lvl1pPr>
              <a:defRPr sz="1800" b="0">
                <a:solidFill>
                  <a:srgbClr val="53657E"/>
                </a:solidFill>
              </a:defRPr>
            </a:lvl1pPr>
            <a:lvl2pPr>
              <a:defRPr sz="1800" b="0">
                <a:solidFill>
                  <a:srgbClr val="53657E"/>
                </a:solidFill>
              </a:defRPr>
            </a:lvl2pPr>
            <a:lvl3pPr>
              <a:defRPr sz="1800" b="0">
                <a:solidFill>
                  <a:srgbClr val="53657E"/>
                </a:solidFill>
              </a:defRPr>
            </a:lvl3pPr>
            <a:lvl4pPr>
              <a:defRPr sz="1800" b="0">
                <a:solidFill>
                  <a:srgbClr val="53657E"/>
                </a:solidFill>
              </a:defRPr>
            </a:lvl4pPr>
            <a:lvl5pPr>
              <a:defRPr sz="1800" b="0">
                <a:solidFill>
                  <a:srgbClr val="53657E"/>
                </a:solidFill>
              </a:defRPr>
            </a:lvl5pPr>
            <a:lvl6pPr>
              <a:defRPr sz="1800" b="0">
                <a:solidFill>
                  <a:srgbClr val="53657E"/>
                </a:solidFill>
              </a:defRPr>
            </a:lvl6pPr>
            <a:lvl7pPr>
              <a:defRPr sz="1800" b="0">
                <a:solidFill>
                  <a:srgbClr val="53657E"/>
                </a:solidFill>
              </a:defRPr>
            </a:lvl7pPr>
            <a:lvl8pPr>
              <a:defRPr sz="1800" b="0">
                <a:solidFill>
                  <a:srgbClr val="53657E"/>
                </a:solidFill>
              </a:defRPr>
            </a:lvl8pPr>
            <a:lvl9pPr>
              <a:defRPr sz="1800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57E"/>
                </a:solidFill>
              </a:defRPr>
            </a:pPr>
            <a:r>
              <a:rPr sz="1800" b="0">
                <a:solidFill>
                  <a:srgbClr val="53657E"/>
                </a:solidFill>
              </a:rPr>
              <a:t>Показатели сохраняют свои единицы.</a:t>
            </a:r>
          </a:p>
          <a:p xmlns:a="http://schemas.openxmlformats.org/drawingml/2006/main">
            <a:pPr>
              <a:defRPr sz="1800" b="0">
                <a:solidFill>
                  <a:srgbClr val="53657E"/>
                </a:solidFill>
              </a:defRPr>
            </a:pPr>
            <a:r>
              <a:rPr sz="1800" b="0">
                <a:solidFill>
                  <a:srgbClr val="53657E"/>
                </a:solidFill>
              </a:rPr>
              <a:t>Таблица не смешивает разные значения.</a:t>
            </a:r>
          </a:p>
          <a:p xmlns:a="http://schemas.openxmlformats.org/drawingml/2006/main">
            <a:pPr>
              <a:defRPr sz="1800" b="0">
                <a:solidFill>
                  <a:srgbClr val="53657E"/>
                </a:solidFill>
              </a:defRPr>
            </a:pPr>
            <a:r>
              <a:rPr sz="1800" b="0">
                <a:solidFill>
                  <a:srgbClr val="53657E"/>
                </a:solidFill>
              </a:rPr>
              <a:t>CSV выгружает все строки выборки.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B3F54-4928-4E81-8570-DD9C70089706}"/>
              </a:ext>
            </a:extLst>
          </p:cNvPr>
          <p:cNvGraphicFramePr/>
          <p:nvPr/>
        </p:nvGraphicFramePr>
        <p:xfrm>
          <a:off xmlns:a="http://schemas.openxmlformats.org/drawingml/2006/main" x="723900" y="4248150"/>
          <a:ext xmlns:a="http://schemas.openxmlformats.org/drawingml/2006/main" cx="10715625" cy="104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78906"/>
                <a:gridCol w="2678906"/>
                <a:gridCol w="2678906"/>
                <a:gridCol w="2678906"/>
              </a:tblGrid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Территория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Период</a:t>
                      </a:r>
                    </a:p>
                  </a:txBody>
                  <a:tcPr marL="91440" marR="91440" marT="45720" marB="45720"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ОКФС</a:t>
                      </a:r>
                    </a:p>
                  </a:txBody>
                  <a:tcPr marL="91440" marR="91440" marT="45720" marB="45720"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Значение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Россия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2014-Q1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111,1 %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EA50E-F108-4687-925D-3D9B40EB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45EC7"/>
                </a:solidFill>
              </a:defRPr>
            </a:defPPr>
            <a:lvl1pPr>
              <a:defRPr sz="1875" b="1">
                <a:solidFill>
                  <a:srgbClr val="245EC7"/>
                </a:solidFill>
              </a:defRPr>
            </a:lvl1pPr>
            <a:lvl2pPr>
              <a:defRPr sz="1875" b="1">
                <a:solidFill>
                  <a:srgbClr val="245EC7"/>
                </a:solidFill>
              </a:defRPr>
            </a:lvl2pPr>
            <a:lvl3pPr>
              <a:defRPr sz="1875" b="1">
                <a:solidFill>
                  <a:srgbClr val="245EC7"/>
                </a:solidFill>
              </a:defRPr>
            </a:lvl3pPr>
            <a:lvl4pPr>
              <a:defRPr sz="1875" b="1">
                <a:solidFill>
                  <a:srgbClr val="245EC7"/>
                </a:solidFill>
              </a:defRPr>
            </a:lvl4pPr>
            <a:lvl5pPr>
              <a:defRPr sz="1875" b="1">
                <a:solidFill>
                  <a:srgbClr val="245EC7"/>
                </a:solidFill>
              </a:defRPr>
            </a:lvl5pPr>
            <a:lvl6pPr>
              <a:defRPr sz="1875" b="1">
                <a:solidFill>
                  <a:srgbClr val="245EC7"/>
                </a:solidFill>
              </a:defRPr>
            </a:lvl6pPr>
            <a:lvl7pPr>
              <a:defRPr sz="1875" b="1">
                <a:solidFill>
                  <a:srgbClr val="245EC7"/>
                </a:solidFill>
              </a:defRPr>
            </a:lvl7pPr>
            <a:lvl8pPr>
              <a:defRPr sz="1875" b="1">
                <a:solidFill>
                  <a:srgbClr val="245EC7"/>
                </a:solidFill>
              </a:defRPr>
            </a:lvl8pPr>
            <a:lvl9pPr>
              <a:defRPr sz="1875" b="1">
                <a:solidFill>
                  <a:srgbClr val="245EC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EC7"/>
                </a:solidFill>
              </a:defRPr>
            </a:pPr>
            <a:r>
              <a:rPr sz="1875" b="1">
                <a:solidFill>
                  <a:srgbClr val="245EC7"/>
                </a:solidFill>
              </a:rPr>
              <a:t>44198: квартал задаётся атрибутом PERIOD, ОКФС различает ряды.</a:t>
            </a:r>
          </a:p>
        </p:txBody>
      </p:sp>
    </p:spTree>
    <p:extLst>
      <p:ext uri="{BB962C8B-B14F-4D97-AF65-F5344CB8AC3E}">
        <p14:creationId xmlns:p14="http://schemas.microsoft.com/office/powerpoint/2010/main" val="171705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587CB-5441-45B4-BD29-5EDFC414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2B49"/>
                </a:solidFill>
              </a:defRPr>
            </a:defPPr>
            <a:lvl1pPr>
              <a:defRPr sz="2850" b="1">
                <a:solidFill>
                  <a:srgbClr val="182B49"/>
                </a:solidFill>
              </a:defRPr>
            </a:lvl1pPr>
            <a:lvl2pPr>
              <a:defRPr sz="2850" b="1">
                <a:solidFill>
                  <a:srgbClr val="182B49"/>
                </a:solidFill>
              </a:defRPr>
            </a:lvl2pPr>
            <a:lvl3pPr>
              <a:defRPr sz="2850" b="1">
                <a:solidFill>
                  <a:srgbClr val="182B49"/>
                </a:solidFill>
              </a:defRPr>
            </a:lvl3pPr>
            <a:lvl4pPr>
              <a:defRPr sz="2850" b="1">
                <a:solidFill>
                  <a:srgbClr val="182B49"/>
                </a:solidFill>
              </a:defRPr>
            </a:lvl4pPr>
            <a:lvl5pPr>
              <a:defRPr sz="2850" b="1">
                <a:solidFill>
                  <a:srgbClr val="182B49"/>
                </a:solidFill>
              </a:defRPr>
            </a:lvl5pPr>
            <a:lvl6pPr>
              <a:defRPr sz="2850" b="1">
                <a:solidFill>
                  <a:srgbClr val="182B49"/>
                </a:solidFill>
              </a:defRPr>
            </a:lvl6pPr>
            <a:lvl7pPr>
              <a:defRPr sz="2850" b="1">
                <a:solidFill>
                  <a:srgbClr val="182B49"/>
                </a:solidFill>
              </a:defRPr>
            </a:lvl7pPr>
            <a:lvl8pPr>
              <a:defRPr sz="2850" b="1">
                <a:solidFill>
                  <a:srgbClr val="182B49"/>
                </a:solidFill>
              </a:defRPr>
            </a:lvl8pPr>
            <a:lvl9pPr>
              <a:defRPr sz="2850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2B49"/>
                </a:solidFill>
              </a:defRPr>
            </a:pPr>
            <a:r>
              <a:rPr sz="2850" b="1">
                <a:solidFill>
                  <a:srgbClr val="182B49"/>
                </a:solidFill>
              </a:rPr>
              <a:t>Фактическая динамика ввода жилья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6C612-CB1F-4F12-BCD7-CB8B6146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57E"/>
                </a:solidFill>
              </a:defRPr>
            </a:defPPr>
            <a:lvl1pPr>
              <a:defRPr sz="1800" b="0">
                <a:solidFill>
                  <a:srgbClr val="53657E"/>
                </a:solidFill>
              </a:defRPr>
            </a:lvl1pPr>
            <a:lvl2pPr>
              <a:defRPr sz="1800" b="0">
                <a:solidFill>
                  <a:srgbClr val="53657E"/>
                </a:solidFill>
              </a:defRPr>
            </a:lvl2pPr>
            <a:lvl3pPr>
              <a:defRPr sz="1800" b="0">
                <a:solidFill>
                  <a:srgbClr val="53657E"/>
                </a:solidFill>
              </a:defRPr>
            </a:lvl3pPr>
            <a:lvl4pPr>
              <a:defRPr sz="1800" b="0">
                <a:solidFill>
                  <a:srgbClr val="53657E"/>
                </a:solidFill>
              </a:defRPr>
            </a:lvl4pPr>
            <a:lvl5pPr>
              <a:defRPr sz="1800" b="0">
                <a:solidFill>
                  <a:srgbClr val="53657E"/>
                </a:solidFill>
              </a:defRPr>
            </a:lvl5pPr>
            <a:lvl6pPr>
              <a:defRPr sz="1800" b="0">
                <a:solidFill>
                  <a:srgbClr val="53657E"/>
                </a:solidFill>
              </a:defRPr>
            </a:lvl6pPr>
            <a:lvl7pPr>
              <a:defRPr sz="1800" b="0">
                <a:solidFill>
                  <a:srgbClr val="53657E"/>
                </a:solidFill>
              </a:defRPr>
            </a:lvl7pPr>
            <a:lvl8pPr>
              <a:defRPr sz="1800" b="0">
                <a:solidFill>
                  <a:srgbClr val="53657E"/>
                </a:solidFill>
              </a:defRPr>
            </a:lvl8pPr>
            <a:lvl9pPr>
              <a:defRPr sz="1800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57E"/>
                </a:solidFill>
              </a:defRPr>
            </a:pPr>
            <a:r>
              <a:rPr sz="1800" b="0">
                <a:solidFill>
                  <a:srgbClr val="53657E"/>
                </a:solidFill>
              </a:rPr>
              <a:t>Российская Федерация, показатель 43537 · млн кв. м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53C7A9E-F913-4319-BBE3-19388DD7FBEE}"/>
              </a:ext>
            </a:extLst>
          </p:cNvPr>
          <p:cNvGraphicFramePr/>
          <p:nvPr/>
        </p:nvGraphicFramePr>
        <p:xfrm>
          <a:off xmlns:a="http://schemas.openxmlformats.org/drawingml/2006/main" x="723900" y="2190750"/>
          <a:ext xmlns:a="http://schemas.openxmlformats.org/drawingml/2006/main" cx="1066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4e747d34a84d1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7EBE8-008D-48C5-8C4C-62FA2478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57E"/>
                </a:solidFill>
              </a:defRPr>
            </a:defPPr>
            <a:lvl1pPr>
              <a:defRPr sz="1725" b="0">
                <a:solidFill>
                  <a:srgbClr val="53657E"/>
                </a:solidFill>
              </a:defRPr>
            </a:lvl1pPr>
            <a:lvl2pPr>
              <a:defRPr sz="1725" b="0">
                <a:solidFill>
                  <a:srgbClr val="53657E"/>
                </a:solidFill>
              </a:defRPr>
            </a:lvl2pPr>
            <a:lvl3pPr>
              <a:defRPr sz="1725" b="0">
                <a:solidFill>
                  <a:srgbClr val="53657E"/>
                </a:solidFill>
              </a:defRPr>
            </a:lvl3pPr>
            <a:lvl4pPr>
              <a:defRPr sz="1725" b="0">
                <a:solidFill>
                  <a:srgbClr val="53657E"/>
                </a:solidFill>
              </a:defRPr>
            </a:lvl4pPr>
            <a:lvl5pPr>
              <a:defRPr sz="1725" b="0">
                <a:solidFill>
                  <a:srgbClr val="53657E"/>
                </a:solidFill>
              </a:defRPr>
            </a:lvl5pPr>
            <a:lvl6pPr>
              <a:defRPr sz="1725" b="0">
                <a:solidFill>
                  <a:srgbClr val="53657E"/>
                </a:solidFill>
              </a:defRPr>
            </a:lvl6pPr>
            <a:lvl7pPr>
              <a:defRPr sz="1725" b="0">
                <a:solidFill>
                  <a:srgbClr val="53657E"/>
                </a:solidFill>
              </a:defRPr>
            </a:lvl7pPr>
            <a:lvl8pPr>
              <a:defRPr sz="1725" b="0">
                <a:solidFill>
                  <a:srgbClr val="53657E"/>
                </a:solidFill>
              </a:defRPr>
            </a:lvl8pPr>
            <a:lvl9pPr>
              <a:defRPr sz="1725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E"/>
                </a:solidFill>
              </a:defRPr>
            </a:pPr>
            <a:r>
              <a:rPr sz="1725" b="0">
                <a:solidFill>
                  <a:srgbClr val="53657E"/>
                </a:solidFill>
              </a:rPr>
              <a:t>Пропуски не заменяются нулём. Процент исполнения не рассчитывается.</a:t>
            </a:r>
          </a:p>
        </p:txBody>
      </p:sp>
    </p:spTree>
    <p:extLst>
      <p:ext uri="{BB962C8B-B14F-4D97-AF65-F5344CB8AC3E}">
        <p14:creationId xmlns:p14="http://schemas.microsoft.com/office/powerpoint/2010/main" val="404445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3884B-9211-4C24-ABE6-030F2705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2B49"/>
                </a:solidFill>
              </a:defRPr>
            </a:defPPr>
            <a:lvl1pPr>
              <a:defRPr sz="2850" b="1">
                <a:solidFill>
                  <a:srgbClr val="182B49"/>
                </a:solidFill>
              </a:defRPr>
            </a:lvl1pPr>
            <a:lvl2pPr>
              <a:defRPr sz="2850" b="1">
                <a:solidFill>
                  <a:srgbClr val="182B49"/>
                </a:solidFill>
              </a:defRPr>
            </a:lvl2pPr>
            <a:lvl3pPr>
              <a:defRPr sz="2850" b="1">
                <a:solidFill>
                  <a:srgbClr val="182B49"/>
                </a:solidFill>
              </a:defRPr>
            </a:lvl3pPr>
            <a:lvl4pPr>
              <a:defRPr sz="2850" b="1">
                <a:solidFill>
                  <a:srgbClr val="182B49"/>
                </a:solidFill>
              </a:defRPr>
            </a:lvl4pPr>
            <a:lvl5pPr>
              <a:defRPr sz="2850" b="1">
                <a:solidFill>
                  <a:srgbClr val="182B49"/>
                </a:solidFill>
              </a:defRPr>
            </a:lvl5pPr>
            <a:lvl6pPr>
              <a:defRPr sz="2850" b="1">
                <a:solidFill>
                  <a:srgbClr val="182B49"/>
                </a:solidFill>
              </a:defRPr>
            </a:lvl6pPr>
            <a:lvl7pPr>
              <a:defRPr sz="2850" b="1">
                <a:solidFill>
                  <a:srgbClr val="182B49"/>
                </a:solidFill>
              </a:defRPr>
            </a:lvl7pPr>
            <a:lvl8pPr>
              <a:defRPr sz="2850" b="1">
                <a:solidFill>
                  <a:srgbClr val="182B49"/>
                </a:solidFill>
              </a:defRPr>
            </a:lvl8pPr>
            <a:lvl9pPr>
              <a:defRPr sz="2850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2B49"/>
                </a:solidFill>
              </a:defRPr>
            </a:pPr>
            <a:r>
              <a:rPr sz="2850" b="1">
                <a:solidFill>
                  <a:srgbClr val="182B49"/>
                </a:solidFill>
              </a:rPr>
              <a:t>Проверки и полученные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1B1A4-67A0-4366-90F0-ECD4D9AD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45EC7"/>
                </a:solidFill>
              </a:defRPr>
            </a:defPPr>
            <a:lvl1pPr>
              <a:defRPr sz="2850" b="1">
                <a:solidFill>
                  <a:srgbClr val="245EC7"/>
                </a:solidFill>
              </a:defRPr>
            </a:lvl1pPr>
            <a:lvl2pPr>
              <a:defRPr sz="2850" b="1">
                <a:solidFill>
                  <a:srgbClr val="245EC7"/>
                </a:solidFill>
              </a:defRPr>
            </a:lvl2pPr>
            <a:lvl3pPr>
              <a:defRPr sz="2850" b="1">
                <a:solidFill>
                  <a:srgbClr val="245EC7"/>
                </a:solidFill>
              </a:defRPr>
            </a:lvl3pPr>
            <a:lvl4pPr>
              <a:defRPr sz="2850" b="1">
                <a:solidFill>
                  <a:srgbClr val="245EC7"/>
                </a:solidFill>
              </a:defRPr>
            </a:lvl4pPr>
            <a:lvl5pPr>
              <a:defRPr sz="2850" b="1">
                <a:solidFill>
                  <a:srgbClr val="245EC7"/>
                </a:solidFill>
              </a:defRPr>
            </a:lvl5pPr>
            <a:lvl6pPr>
              <a:defRPr sz="2850" b="1">
                <a:solidFill>
                  <a:srgbClr val="245EC7"/>
                </a:solidFill>
              </a:defRPr>
            </a:lvl6pPr>
            <a:lvl7pPr>
              <a:defRPr sz="2850" b="1">
                <a:solidFill>
                  <a:srgbClr val="245EC7"/>
                </a:solidFill>
              </a:defRPr>
            </a:lvl7pPr>
            <a:lvl8pPr>
              <a:defRPr sz="2850" b="1">
                <a:solidFill>
                  <a:srgbClr val="245EC7"/>
                </a:solidFill>
              </a:defRPr>
            </a:lvl8pPr>
            <a:lvl9pPr>
              <a:defRPr sz="2850" b="1">
                <a:solidFill>
                  <a:srgbClr val="245EC7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45EC7"/>
                </a:solidFill>
              </a:defRPr>
            </a:pPr>
            <a:r>
              <a:rPr sz="2850" b="1">
                <a:solidFill>
                  <a:srgbClr val="245EC7"/>
                </a:solidFill>
              </a:rPr>
              <a:t>20 тестов пройдено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93389-F5EC-4997-85D5-9C48F3AFC34E}"/>
              </a:ext>
            </a:extLst>
          </p:cNvPr>
          <p:cNvGraphicFramePr/>
          <p:nvPr/>
        </p:nvGraphicFramePr>
        <p:xfrm>
          <a:off xmlns:a="http://schemas.openxmlformats.org/drawingml/2006/main" x="723900" y="2638425"/>
          <a:ext xmlns:a="http://schemas.openxmlformats.org/drawingml/2006/main" cx="107156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57813"/>
                <a:gridCol w="5357813"/>
              </a:tblGrid>
              <a:tr h="5080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lnT w="9525">
                      <a:solidFill>
                        <a:srgbClr val="D9D9D9"/>
                      </a:solidFill>
                    </a:lnT>
                    <a:solidFill>
                      <a:srgbClr val="245EC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Все файлы и независимая сверка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6 792 значения совпадают с XML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Повторный импорт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0 дубликатов, 6 792 пропуска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Обновление и откат пакета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Проверены транзакциями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Кварталы, ОКФС, пропуски, точность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Сохраняются без слияния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Таблица, CSV и данные графиков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9D9"/>
                      </a:solidFill>
                    </a:lnL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B49"/>
                          </a:solidFill>
                          <a:latin typeface="Arial"/>
                          <a:ea typeface="Arial"/>
                          <a:cs typeface="Arial"/>
                        </a:rPr>
                        <a:t>Одна отфильтрованная выборка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9D9"/>
                      </a:solidFill>
                    </a:lnR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25CDF-8E2D-4523-8D93-46096071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57E"/>
                </a:solidFill>
              </a:defRPr>
            </a:defPPr>
            <a:lvl1pPr>
              <a:defRPr sz="1650" b="0">
                <a:solidFill>
                  <a:srgbClr val="53657E"/>
                </a:solidFill>
              </a:defRPr>
            </a:lvl1pPr>
            <a:lvl2pPr>
              <a:defRPr sz="1650" b="0">
                <a:solidFill>
                  <a:srgbClr val="53657E"/>
                </a:solidFill>
              </a:defRPr>
            </a:lvl2pPr>
            <a:lvl3pPr>
              <a:defRPr sz="1650" b="0">
                <a:solidFill>
                  <a:srgbClr val="53657E"/>
                </a:solidFill>
              </a:defRPr>
            </a:lvl3pPr>
            <a:lvl4pPr>
              <a:defRPr sz="1650" b="0">
                <a:solidFill>
                  <a:srgbClr val="53657E"/>
                </a:solidFill>
              </a:defRPr>
            </a:lvl4pPr>
            <a:lvl5pPr>
              <a:defRPr sz="1650" b="0">
                <a:solidFill>
                  <a:srgbClr val="53657E"/>
                </a:solidFill>
              </a:defRPr>
            </a:lvl5pPr>
            <a:lvl6pPr>
              <a:defRPr sz="1650" b="0">
                <a:solidFill>
                  <a:srgbClr val="53657E"/>
                </a:solidFill>
              </a:defRPr>
            </a:lvl6pPr>
            <a:lvl7pPr>
              <a:defRPr sz="1650" b="0">
                <a:solidFill>
                  <a:srgbClr val="53657E"/>
                </a:solidFill>
              </a:defRPr>
            </a:lvl7pPr>
            <a:lvl8pPr>
              <a:defRPr sz="1650" b="0">
                <a:solidFill>
                  <a:srgbClr val="53657E"/>
                </a:solidFill>
              </a:defRPr>
            </a:lvl8pPr>
            <a:lvl9pPr>
              <a:defRPr sz="1650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57E"/>
                </a:solidFill>
              </a:defRPr>
            </a:pPr>
            <a:r>
              <a:rPr sz="1650" b="0">
                <a:solidFill>
                  <a:srgbClr val="53657E"/>
                </a:solidFill>
              </a:rPr>
              <a:t>Django-клиент: основные страницы отвечают 200.</a:t>
            </a:r>
          </a:p>
        </p:txBody>
      </p:sp>
    </p:spTree>
    <p:extLst>
      <p:ext uri="{BB962C8B-B14F-4D97-AF65-F5344CB8AC3E}">
        <p14:creationId xmlns:p14="http://schemas.microsoft.com/office/powerpoint/2010/main" val="11050914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5B780-DE37-43BC-8FD0-E40C3C01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82B49"/>
                </a:solidFill>
              </a:defRPr>
            </a:defPPr>
            <a:lvl1pPr>
              <a:defRPr sz="2850" b="1">
                <a:solidFill>
                  <a:srgbClr val="182B49"/>
                </a:solidFill>
              </a:defRPr>
            </a:lvl1pPr>
            <a:lvl2pPr>
              <a:defRPr sz="2850" b="1">
                <a:solidFill>
                  <a:srgbClr val="182B49"/>
                </a:solidFill>
              </a:defRPr>
            </a:lvl2pPr>
            <a:lvl3pPr>
              <a:defRPr sz="2850" b="1">
                <a:solidFill>
                  <a:srgbClr val="182B49"/>
                </a:solidFill>
              </a:defRPr>
            </a:lvl3pPr>
            <a:lvl4pPr>
              <a:defRPr sz="2850" b="1">
                <a:solidFill>
                  <a:srgbClr val="182B49"/>
                </a:solidFill>
              </a:defRPr>
            </a:lvl4pPr>
            <a:lvl5pPr>
              <a:defRPr sz="2850" b="1">
                <a:solidFill>
                  <a:srgbClr val="182B49"/>
                </a:solidFill>
              </a:defRPr>
            </a:lvl5pPr>
            <a:lvl6pPr>
              <a:defRPr sz="2850" b="1">
                <a:solidFill>
                  <a:srgbClr val="182B49"/>
                </a:solidFill>
              </a:defRPr>
            </a:lvl6pPr>
            <a:lvl7pPr>
              <a:defRPr sz="2850" b="1">
                <a:solidFill>
                  <a:srgbClr val="182B49"/>
                </a:solidFill>
              </a:defRPr>
            </a:lvl7pPr>
            <a:lvl8pPr>
              <a:defRPr sz="2850" b="1">
                <a:solidFill>
                  <a:srgbClr val="182B49"/>
                </a:solidFill>
              </a:defRPr>
            </a:lvl8pPr>
            <a:lvl9pPr>
              <a:defRPr sz="2850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2B49"/>
                </a:solidFill>
              </a:defRPr>
            </a:pPr>
            <a:r>
              <a:rPr sz="2850" b="1">
                <a:solidFill>
                  <a:srgbClr val="182B49"/>
                </a:solidFill>
              </a:rPr>
              <a:t>Результат и границы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2E4D3-1206-4AC9-867E-06000580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2B49"/>
                </a:solidFill>
              </a:defRPr>
            </a:defPPr>
            <a:lvl1pPr>
              <a:defRPr sz="2250" b="1">
                <a:solidFill>
                  <a:srgbClr val="182B49"/>
                </a:solidFill>
              </a:defRPr>
            </a:lvl1pPr>
            <a:lvl2pPr>
              <a:defRPr sz="2250" b="1">
                <a:solidFill>
                  <a:srgbClr val="182B49"/>
                </a:solidFill>
              </a:defRPr>
            </a:lvl2pPr>
            <a:lvl3pPr>
              <a:defRPr sz="2250" b="1">
                <a:solidFill>
                  <a:srgbClr val="182B49"/>
                </a:solidFill>
              </a:defRPr>
            </a:lvl3pPr>
            <a:lvl4pPr>
              <a:defRPr sz="2250" b="1">
                <a:solidFill>
                  <a:srgbClr val="182B49"/>
                </a:solidFill>
              </a:defRPr>
            </a:lvl4pPr>
            <a:lvl5pPr>
              <a:defRPr sz="2250" b="1">
                <a:solidFill>
                  <a:srgbClr val="182B49"/>
                </a:solidFill>
              </a:defRPr>
            </a:lvl5pPr>
            <a:lvl6pPr>
              <a:defRPr sz="2250" b="1">
                <a:solidFill>
                  <a:srgbClr val="182B49"/>
                </a:solidFill>
              </a:defRPr>
            </a:lvl6pPr>
            <a:lvl7pPr>
              <a:defRPr sz="2250" b="1">
                <a:solidFill>
                  <a:srgbClr val="182B49"/>
                </a:solidFill>
              </a:defRPr>
            </a:lvl7pPr>
            <a:lvl8pPr>
              <a:defRPr sz="2250" b="1">
                <a:solidFill>
                  <a:srgbClr val="182B49"/>
                </a:solidFill>
              </a:defRPr>
            </a:lvl8pPr>
            <a:lvl9pPr>
              <a:defRPr sz="2250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2B49"/>
                </a:solidFill>
              </a:defRPr>
            </a:pPr>
            <a:r>
              <a:rPr sz="2250" b="1">
                <a:solidFill>
                  <a:srgbClr val="182B49"/>
                </a:solidFill>
              </a:rPr>
              <a:t>Готовый комплект deliverables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16F25-9BE9-445C-BF27-5F9BE600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57E"/>
                </a:solidFill>
              </a:defRPr>
            </a:defPPr>
            <a:lvl1pPr>
              <a:defRPr sz="1875" b="0">
                <a:solidFill>
                  <a:srgbClr val="53657E"/>
                </a:solidFill>
              </a:defRPr>
            </a:lvl1pPr>
            <a:lvl2pPr>
              <a:defRPr sz="1875" b="0">
                <a:solidFill>
                  <a:srgbClr val="53657E"/>
                </a:solidFill>
              </a:defRPr>
            </a:lvl2pPr>
            <a:lvl3pPr>
              <a:defRPr sz="1875" b="0">
                <a:solidFill>
                  <a:srgbClr val="53657E"/>
                </a:solidFill>
              </a:defRPr>
            </a:lvl3pPr>
            <a:lvl4pPr>
              <a:defRPr sz="1875" b="0">
                <a:solidFill>
                  <a:srgbClr val="53657E"/>
                </a:solidFill>
              </a:defRPr>
            </a:lvl4pPr>
            <a:lvl5pPr>
              <a:defRPr sz="1875" b="0">
                <a:solidFill>
                  <a:srgbClr val="53657E"/>
                </a:solidFill>
              </a:defRPr>
            </a:lvl5pPr>
            <a:lvl6pPr>
              <a:defRPr sz="1875" b="0">
                <a:solidFill>
                  <a:srgbClr val="53657E"/>
                </a:solidFill>
              </a:defRPr>
            </a:lvl6pPr>
            <a:lvl7pPr>
              <a:defRPr sz="1875" b="0">
                <a:solidFill>
                  <a:srgbClr val="53657E"/>
                </a:solidFill>
              </a:defRPr>
            </a:lvl7pPr>
            <a:lvl8pPr>
              <a:defRPr sz="1875" b="0">
                <a:solidFill>
                  <a:srgbClr val="53657E"/>
                </a:solidFill>
              </a:defRPr>
            </a:lvl8pPr>
            <a:lvl9pPr>
              <a:defRPr sz="1875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57E"/>
                </a:solidFill>
              </a:defRPr>
            </a:pPr>
            <a:r>
              <a:rPr sz="1875" b="0">
                <a:solidFill>
                  <a:srgbClr val="53657E"/>
                </a:solidFill>
              </a:rPr>
              <a:t>Исходный код, заполненная SQLite-база, миграции и загрузчик.</a:t>
            </a:r>
          </a:p>
          <a:p xmlns:a="http://schemas.openxmlformats.org/drawingml/2006/main">
            <a:pPr>
              <a:defRPr sz="1875" b="0">
                <a:solidFill>
                  <a:srgbClr val="53657E"/>
                </a:solidFill>
              </a:defRPr>
            </a:pPr>
            <a:r>
              <a:rPr sz="1875" b="0">
                <a:solidFill>
                  <a:srgbClr val="53657E"/>
                </a:solidFill>
              </a:rPr>
              <a:t>Отчёт по шести XML, README и сценарий защиты.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89FCE-003D-4B5A-BA05-5C0694A9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B49"/>
                </a:solidFill>
              </a:defRPr>
            </a:defPPr>
            <a:lvl1pPr>
              <a:defRPr sz="2175" b="1">
                <a:solidFill>
                  <a:srgbClr val="182B49"/>
                </a:solidFill>
              </a:defRPr>
            </a:lvl1pPr>
            <a:lvl2pPr>
              <a:defRPr sz="2175" b="1">
                <a:solidFill>
                  <a:srgbClr val="182B49"/>
                </a:solidFill>
              </a:defRPr>
            </a:lvl2pPr>
            <a:lvl3pPr>
              <a:defRPr sz="2175" b="1">
                <a:solidFill>
                  <a:srgbClr val="182B49"/>
                </a:solidFill>
              </a:defRPr>
            </a:lvl3pPr>
            <a:lvl4pPr>
              <a:defRPr sz="2175" b="1">
                <a:solidFill>
                  <a:srgbClr val="182B49"/>
                </a:solidFill>
              </a:defRPr>
            </a:lvl4pPr>
            <a:lvl5pPr>
              <a:defRPr sz="2175" b="1">
                <a:solidFill>
                  <a:srgbClr val="182B49"/>
                </a:solidFill>
              </a:defRPr>
            </a:lvl5pPr>
            <a:lvl6pPr>
              <a:defRPr sz="2175" b="1">
                <a:solidFill>
                  <a:srgbClr val="182B49"/>
                </a:solidFill>
              </a:defRPr>
            </a:lvl6pPr>
            <a:lvl7pPr>
              <a:defRPr sz="2175" b="1">
                <a:solidFill>
                  <a:srgbClr val="182B49"/>
                </a:solidFill>
              </a:defRPr>
            </a:lvl7pPr>
            <a:lvl8pPr>
              <a:defRPr sz="2175" b="1">
                <a:solidFill>
                  <a:srgbClr val="182B49"/>
                </a:solidFill>
              </a:defRPr>
            </a:lvl8pPr>
            <a:lvl9pPr>
              <a:defRPr sz="2175" b="1">
                <a:solidFill>
                  <a:srgbClr val="182B49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2B49"/>
                </a:solidFill>
              </a:defRPr>
            </a:pPr>
            <a:r>
              <a:rPr sz="2175" b="1">
                <a:solidFill>
                  <a:srgbClr val="182B49"/>
                </a:solidFill>
              </a:rPr>
              <a:t>Запуск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B5DD6-1375-4388-B032-246A8A64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57E"/>
                </a:solidFill>
              </a:defRPr>
            </a:defPPr>
            <a:lvl1pPr>
              <a:defRPr sz="1800" b="0">
                <a:solidFill>
                  <a:srgbClr val="53657E"/>
                </a:solidFill>
              </a:defRPr>
            </a:lvl1pPr>
            <a:lvl2pPr>
              <a:defRPr sz="1800" b="0">
                <a:solidFill>
                  <a:srgbClr val="53657E"/>
                </a:solidFill>
              </a:defRPr>
            </a:lvl2pPr>
            <a:lvl3pPr>
              <a:defRPr sz="1800" b="0">
                <a:solidFill>
                  <a:srgbClr val="53657E"/>
                </a:solidFill>
              </a:defRPr>
            </a:lvl3pPr>
            <a:lvl4pPr>
              <a:defRPr sz="1800" b="0">
                <a:solidFill>
                  <a:srgbClr val="53657E"/>
                </a:solidFill>
              </a:defRPr>
            </a:lvl4pPr>
            <a:lvl5pPr>
              <a:defRPr sz="1800" b="0">
                <a:solidFill>
                  <a:srgbClr val="53657E"/>
                </a:solidFill>
              </a:defRPr>
            </a:lvl5pPr>
            <a:lvl6pPr>
              <a:defRPr sz="1800" b="0">
                <a:solidFill>
                  <a:srgbClr val="53657E"/>
                </a:solidFill>
              </a:defRPr>
            </a:lvl6pPr>
            <a:lvl7pPr>
              <a:defRPr sz="1800" b="0">
                <a:solidFill>
                  <a:srgbClr val="53657E"/>
                </a:solidFill>
              </a:defRPr>
            </a:lvl7pPr>
            <a:lvl8pPr>
              <a:defRPr sz="1800" b="0">
                <a:solidFill>
                  <a:srgbClr val="53657E"/>
                </a:solidFill>
              </a:defRPr>
            </a:lvl8pPr>
            <a:lvl9pPr>
              <a:defRPr sz="1800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57E"/>
                </a:solidFill>
              </a:defRPr>
            </a:pPr>
            <a:r>
              <a:rPr sz="1800" b="0">
                <a:solidFill>
                  <a:srgbClr val="53657E"/>
                </a:solidFill>
              </a:rPr>
              <a:t>Установить Python 3.12 и зависимости, выполнить migrate.</a:t>
            </a:r>
          </a:p>
          <a:p xmlns:a="http://schemas.openxmlformats.org/drawingml/2006/main">
            <a:pPr>
              <a:defRPr sz="1800" b="0">
                <a:solidFill>
                  <a:srgbClr val="53657E"/>
                </a:solidFill>
              </a:defRPr>
            </a:pPr>
            <a:r>
              <a:rPr sz="1800" b="0">
                <a:solidFill>
                  <a:srgbClr val="53657E"/>
                </a:solidFill>
              </a:rPr>
              <a:t>Запустить manage.py runserver 127.0.0.1:8000.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32AAF-6D75-4033-9939-7E305EEF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54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57E"/>
                </a:solidFill>
              </a:defRPr>
            </a:defPPr>
            <a:lvl1pPr>
              <a:defRPr sz="1650" b="0">
                <a:solidFill>
                  <a:srgbClr val="53657E"/>
                </a:solidFill>
              </a:defRPr>
            </a:lvl1pPr>
            <a:lvl2pPr>
              <a:defRPr sz="1650" b="0">
                <a:solidFill>
                  <a:srgbClr val="53657E"/>
                </a:solidFill>
              </a:defRPr>
            </a:lvl2pPr>
            <a:lvl3pPr>
              <a:defRPr sz="1650" b="0">
                <a:solidFill>
                  <a:srgbClr val="53657E"/>
                </a:solidFill>
              </a:defRPr>
            </a:lvl3pPr>
            <a:lvl4pPr>
              <a:defRPr sz="1650" b="0">
                <a:solidFill>
                  <a:srgbClr val="53657E"/>
                </a:solidFill>
              </a:defRPr>
            </a:lvl4pPr>
            <a:lvl5pPr>
              <a:defRPr sz="1650" b="0">
                <a:solidFill>
                  <a:srgbClr val="53657E"/>
                </a:solidFill>
              </a:defRPr>
            </a:lvl5pPr>
            <a:lvl6pPr>
              <a:defRPr sz="1650" b="0">
                <a:solidFill>
                  <a:srgbClr val="53657E"/>
                </a:solidFill>
              </a:defRPr>
            </a:lvl6pPr>
            <a:lvl7pPr>
              <a:defRPr sz="1650" b="0">
                <a:solidFill>
                  <a:srgbClr val="53657E"/>
                </a:solidFill>
              </a:defRPr>
            </a:lvl7pPr>
            <a:lvl8pPr>
              <a:defRPr sz="1650" b="0">
                <a:solidFill>
                  <a:srgbClr val="53657E"/>
                </a:solidFill>
              </a:defRPr>
            </a:lvl8pPr>
            <a:lvl9pPr>
              <a:defRPr sz="1650" b="0">
                <a:solidFill>
                  <a:srgbClr val="53657E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57E"/>
                </a:solidFill>
              </a:defRPr>
            </a:pPr>
            <a:r>
              <a:rPr sz="1650" b="0">
                <a:solidFill>
                  <a:srgbClr val="53657E"/>
                </a:solidFill>
              </a:rPr>
              <a:t>Ограничение среды: браузерный просмотр и реальные скриншоты</a:t>
            </a:r>
          </a:p>
          <a:p xmlns:a="http://schemas.openxmlformats.org/drawingml/2006/main">
            <a:pPr>
              <a:defRPr sz="1650" b="0">
                <a:solidFill>
                  <a:srgbClr val="53657E"/>
                </a:solidFill>
              </a:defRPr>
            </a:pPr>
            <a:r>
              <a:rPr sz="1650" b="0">
                <a:solidFill>
                  <a:srgbClr val="53657E"/>
                </a:solidFill>
              </a:rPr>
              <a:t>не выполнены. Для защиты нужна локальная визуальная проверка.</a:t>
            </a:r>
          </a:p>
        </p:txBody>
      </p:sp>
    </p:spTree>
    <p:extLst>
      <p:ext uri="{BB962C8B-B14F-4D97-AF65-F5344CB8AC3E}">
        <p14:creationId xmlns:p14="http://schemas.microsoft.com/office/powerpoint/2010/main" val="1038638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2026-10-25T12:08:21.5160000Z</dcterms:created>
  <dcterms:modified xsi:type="dcterms:W3CDTF">2026-10-25T12:08:21.5160000Z</dcterms:modified>
</coreProperties>
</file>